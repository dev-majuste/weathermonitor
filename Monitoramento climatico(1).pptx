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89" r:id="rId2"/>
    <p:sldId id="290" r:id="rId3"/>
    <p:sldId id="291" r:id="rId4"/>
    <p:sldId id="296" r:id="rId5"/>
    <p:sldId id="294" r:id="rId6"/>
    <p:sldId id="292" r:id="rId7"/>
    <p:sldId id="293" r:id="rId8"/>
    <p:sldId id="295" r:id="rId9"/>
    <p:sldId id="300" r:id="rId10"/>
    <p:sldId id="298" r:id="rId11"/>
    <p:sldId id="297" r:id="rId12"/>
    <p:sldId id="301" r:id="rId13"/>
    <p:sldId id="299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Ribeiro" userId="e0afc19fcb928fe8" providerId="LiveId" clId="{993690DD-8048-4D3B-8BF1-4356755CA187}"/>
    <pc:docChg chg="undo custSel delSld modSld sldOrd">
      <pc:chgData name="Igor Ribeiro" userId="e0afc19fcb928fe8" providerId="LiveId" clId="{993690DD-8048-4D3B-8BF1-4356755CA187}" dt="2026-10-06T20:46:06.776" v="37"/>
      <pc:docMkLst>
        <pc:docMk/>
      </pc:docMkLst>
      <pc:sldChg chg="modSp mod">
        <pc:chgData name="Igor Ribeiro" userId="e0afc19fcb928fe8" providerId="LiveId" clId="{993690DD-8048-4D3B-8BF1-4356755CA187}" dt="2026-09-29T20:59:11.803" v="35" actId="1076"/>
        <pc:sldMkLst>
          <pc:docMk/>
          <pc:sldMk cId="515849253" sldId="297"/>
        </pc:sldMkLst>
        <pc:spChg chg="mod">
          <ac:chgData name="Igor Ribeiro" userId="e0afc19fcb928fe8" providerId="LiveId" clId="{993690DD-8048-4D3B-8BF1-4356755CA187}" dt="2026-09-29T20:59:11.803" v="35" actId="1076"/>
          <ac:spMkLst>
            <pc:docMk/>
            <pc:sldMk cId="515849253" sldId="297"/>
            <ac:spMk id="5" creationId="{4B423B3D-86AD-45CA-A9FC-CCE2D7622635}"/>
          </ac:spMkLst>
        </pc:spChg>
      </pc:sldChg>
      <pc:sldChg chg="ord">
        <pc:chgData name="Igor Ribeiro" userId="e0afc19fcb928fe8" providerId="LiveId" clId="{993690DD-8048-4D3B-8BF1-4356755CA187}" dt="2026-10-06T20:46:06.776" v="37"/>
        <pc:sldMkLst>
          <pc:docMk/>
          <pc:sldMk cId="793382006" sldId="298"/>
        </pc:sldMkLst>
      </pc:sldChg>
      <pc:sldChg chg="modSp mod">
        <pc:chgData name="Igor Ribeiro" userId="e0afc19fcb928fe8" providerId="LiveId" clId="{993690DD-8048-4D3B-8BF1-4356755CA187}" dt="2026-09-29T20:58:45.505" v="34" actId="1076"/>
        <pc:sldMkLst>
          <pc:docMk/>
          <pc:sldMk cId="539296863" sldId="299"/>
        </pc:sldMkLst>
        <pc:spChg chg="mod">
          <ac:chgData name="Igor Ribeiro" userId="e0afc19fcb928fe8" providerId="LiveId" clId="{993690DD-8048-4D3B-8BF1-4356755CA187}" dt="2026-09-29T20:58:37.959" v="33" actId="313"/>
          <ac:spMkLst>
            <pc:docMk/>
            <pc:sldMk cId="539296863" sldId="299"/>
            <ac:spMk id="6" creationId="{CC39D1BE-C339-4917-B07B-2113B9BC5EF3}"/>
          </ac:spMkLst>
        </pc:spChg>
        <pc:spChg chg="mod">
          <ac:chgData name="Igor Ribeiro" userId="e0afc19fcb928fe8" providerId="LiveId" clId="{993690DD-8048-4D3B-8BF1-4356755CA187}" dt="2026-09-29T20:58:45.505" v="34" actId="1076"/>
          <ac:spMkLst>
            <pc:docMk/>
            <pc:sldMk cId="539296863" sldId="299"/>
            <ac:spMk id="8" creationId="{C9221792-12E7-41BD-9E41-9C90F06EC05E}"/>
          </ac:spMkLst>
        </pc:spChg>
      </pc:sldChg>
      <pc:sldChg chg="addSp delSp modSp mod">
        <pc:chgData name="Igor Ribeiro" userId="e0afc19fcb928fe8" providerId="LiveId" clId="{993690DD-8048-4D3B-8BF1-4356755CA187}" dt="2026-09-29T20:56:57.484" v="29" actId="1076"/>
        <pc:sldMkLst>
          <pc:docMk/>
          <pc:sldMk cId="2345521701" sldId="300"/>
        </pc:sldMkLst>
        <pc:spChg chg="del mod">
          <ac:chgData name="Igor Ribeiro" userId="e0afc19fcb928fe8" providerId="LiveId" clId="{993690DD-8048-4D3B-8BF1-4356755CA187}" dt="2026-09-29T20:56:27.182" v="21" actId="21"/>
          <ac:spMkLst>
            <pc:docMk/>
            <pc:sldMk cId="2345521701" sldId="300"/>
            <ac:spMk id="4" creationId="{DED3A12B-9AE7-4731-B7D9-08B8934A0398}"/>
          </ac:spMkLst>
        </pc:spChg>
        <pc:spChg chg="mod">
          <ac:chgData name="Igor Ribeiro" userId="e0afc19fcb928fe8" providerId="LiveId" clId="{993690DD-8048-4D3B-8BF1-4356755CA187}" dt="2026-09-29T20:52:16.818" v="0"/>
          <ac:spMkLst>
            <pc:docMk/>
            <pc:sldMk cId="2345521701" sldId="300"/>
            <ac:spMk id="5" creationId="{AB069664-F36D-4A41-893B-F47D2A6E5C10}"/>
          </ac:spMkLst>
        </pc:spChg>
        <pc:spChg chg="mod">
          <ac:chgData name="Igor Ribeiro" userId="e0afc19fcb928fe8" providerId="LiveId" clId="{993690DD-8048-4D3B-8BF1-4356755CA187}" dt="2026-09-29T20:52:16.820" v="1"/>
          <ac:spMkLst>
            <pc:docMk/>
            <pc:sldMk cId="2345521701" sldId="300"/>
            <ac:spMk id="6" creationId="{52315D6C-12F5-4026-8D70-497AF56922BC}"/>
          </ac:spMkLst>
        </pc:spChg>
        <pc:spChg chg="add del mod">
          <ac:chgData name="Igor Ribeiro" userId="e0afc19fcb928fe8" providerId="LiveId" clId="{993690DD-8048-4D3B-8BF1-4356755CA187}" dt="2026-09-29T20:56:34.231" v="23" actId="21"/>
          <ac:spMkLst>
            <pc:docMk/>
            <pc:sldMk cId="2345521701" sldId="300"/>
            <ac:spMk id="7" creationId="{DED3A12B-9AE7-4731-B7D9-08B8934A0398}"/>
          </ac:spMkLst>
        </pc:spChg>
        <pc:spChg chg="mod">
          <ac:chgData name="Igor Ribeiro" userId="e0afc19fcb928fe8" providerId="LiveId" clId="{993690DD-8048-4D3B-8BF1-4356755CA187}" dt="2026-09-29T20:52:16.821" v="2"/>
          <ac:spMkLst>
            <pc:docMk/>
            <pc:sldMk cId="2345521701" sldId="300"/>
            <ac:spMk id="13" creationId="{8BE185F0-2ADB-4A2E-AA6F-6DC8EB8C90C8}"/>
          </ac:spMkLst>
        </pc:spChg>
        <pc:spChg chg="mod">
          <ac:chgData name="Igor Ribeiro" userId="e0afc19fcb928fe8" providerId="LiveId" clId="{993690DD-8048-4D3B-8BF1-4356755CA187}" dt="2026-09-29T20:52:16.824" v="3"/>
          <ac:spMkLst>
            <pc:docMk/>
            <pc:sldMk cId="2345521701" sldId="300"/>
            <ac:spMk id="14" creationId="{9AEF7B2B-1A54-4A01-88B4-1C75C6021A5D}"/>
          </ac:spMkLst>
        </pc:spChg>
        <pc:spChg chg="mod">
          <ac:chgData name="Igor Ribeiro" userId="e0afc19fcb928fe8" providerId="LiveId" clId="{993690DD-8048-4D3B-8BF1-4356755CA187}" dt="2026-09-29T20:52:16.824" v="4"/>
          <ac:spMkLst>
            <pc:docMk/>
            <pc:sldMk cId="2345521701" sldId="300"/>
            <ac:spMk id="18" creationId="{ECE8EE02-3904-4C5B-899B-1F3B82F5F7D1}"/>
          </ac:spMkLst>
        </pc:spChg>
        <pc:spChg chg="mod">
          <ac:chgData name="Igor Ribeiro" userId="e0afc19fcb928fe8" providerId="LiveId" clId="{993690DD-8048-4D3B-8BF1-4356755CA187}" dt="2026-09-29T20:52:16.827" v="5"/>
          <ac:spMkLst>
            <pc:docMk/>
            <pc:sldMk cId="2345521701" sldId="300"/>
            <ac:spMk id="19" creationId="{2F5F9C6B-87D2-4251-8918-7B6D679B8E62}"/>
          </ac:spMkLst>
        </pc:spChg>
        <pc:spChg chg="mod">
          <ac:chgData name="Igor Ribeiro" userId="e0afc19fcb928fe8" providerId="LiveId" clId="{993690DD-8048-4D3B-8BF1-4356755CA187}" dt="2026-09-29T20:52:16.827" v="6"/>
          <ac:spMkLst>
            <pc:docMk/>
            <pc:sldMk cId="2345521701" sldId="300"/>
            <ac:spMk id="23" creationId="{1A2A2A16-339C-4288-902C-2F4D68F1B2A1}"/>
          </ac:spMkLst>
        </pc:spChg>
        <pc:spChg chg="mod">
          <ac:chgData name="Igor Ribeiro" userId="e0afc19fcb928fe8" providerId="LiveId" clId="{993690DD-8048-4D3B-8BF1-4356755CA187}" dt="2026-09-29T20:52:16.830" v="7"/>
          <ac:spMkLst>
            <pc:docMk/>
            <pc:sldMk cId="2345521701" sldId="300"/>
            <ac:spMk id="24" creationId="{94308688-1C78-48D2-8762-159CA02BD209}"/>
          </ac:spMkLst>
        </pc:spChg>
        <pc:picChg chg="add mod">
          <ac:chgData name="Igor Ribeiro" userId="e0afc19fcb928fe8" providerId="LiveId" clId="{993690DD-8048-4D3B-8BF1-4356755CA187}" dt="2026-09-29T20:56:57.484" v="29" actId="1076"/>
          <ac:picMkLst>
            <pc:docMk/>
            <pc:sldMk cId="2345521701" sldId="300"/>
            <ac:picMk id="9" creationId="{9F47161A-B64C-A7AF-3101-BA4C7F1D5310}"/>
          </ac:picMkLst>
        </pc:picChg>
      </pc:sldChg>
      <pc:sldChg chg="del">
        <pc:chgData name="Igor Ribeiro" userId="e0afc19fcb928fe8" providerId="LiveId" clId="{993690DD-8048-4D3B-8BF1-4356755CA187}" dt="2026-09-29T20:52:20.010" v="13"/>
        <pc:sldMkLst>
          <pc:docMk/>
          <pc:sldMk cId="2024379471" sldId="301"/>
        </pc:sldMkLst>
      </pc:sldChg>
      <pc:sldChg chg="del">
        <pc:chgData name="Igor Ribeiro" userId="e0afc19fcb928fe8" providerId="LiveId" clId="{993690DD-8048-4D3B-8BF1-4356755CA187}" dt="2026-09-29T20:52:20.032" v="14"/>
        <pc:sldMkLst>
          <pc:docMk/>
          <pc:sldMk cId="3524285680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Ilustração esquemática original e editável. Conteúdo desenvolvido para o projeto solicitado.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Contexto baseado na descrição do projeto. Não contém dados quantitativos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Arquitetura conceitual original e editável.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Objetivos propostos a partir do escopo informado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0423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Objetivos propostos a partir do escopo informado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0423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Objetivos propostos a partir do escopo informado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0423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Objetivos propostos a partir do escopo informado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0423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Objetivos propostos a partir do escopo informado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0423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Objetivos propostos a partir do escopo informado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0423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Fluxo funcional proposto. As regras de validação e o intervalo podem ser definidos pela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Diagrama de arquitetura original e editável.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Fluxo funcional proposto. As regras de validação e o intervalo podem ser definidos pela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3135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Conclusão baseada no objetivo do projeto. Campos entre colchetes foram deixados para 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eaLnBrk="1" hangingPunct="1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eaLnBrk="1" hangingPunct="1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eaLnBrk="1" hangingPunct="1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e 20">
            <a:extLst>
              <a:ext uri="{FF2B5EF4-FFF2-40B4-BE49-F238E27FC236}">
                <a16:creationId xmlns:a16="http://schemas.microsoft.com/office/drawing/2014/main" id="{94E1D30B-9F04-427A-93A3-9142F7CFF86A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4572000" cy="4572000"/>
          </a:xfrm>
          <a:prstGeom prst="ellipse">
            <a:avLst/>
          </a:prstGeom>
          <a:solidFill>
            <a:srgbClr val="0C38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A7FC4FD8-5C08-4504-8F90-1AD93DC1CC7A}"/>
              </a:ext>
            </a:extLst>
          </p:cNvPr>
          <p:cNvSpPr>
            <a:spLocks noGrp="1"/>
          </p:cNvSpPr>
          <p:nvPr/>
        </p:nvSpPr>
        <p:spPr>
          <a:xfrm>
            <a:off x="8810625" y="381000"/>
            <a:ext cx="3381375" cy="3381375"/>
          </a:xfrm>
          <a:prstGeom prst="ellipse">
            <a:avLst/>
          </a:prstGeom>
          <a:solidFill>
            <a:srgbClr val="13537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DD860AC-5E51-425D-9EE9-8D328EC24813}"/>
              </a:ext>
            </a:extLst>
          </p:cNvPr>
          <p:cNvSpPr>
            <a:spLocks noGrp="1"/>
          </p:cNvSpPr>
          <p:nvPr/>
        </p:nvSpPr>
        <p:spPr>
          <a:xfrm>
            <a:off x="9544050" y="714375"/>
            <a:ext cx="1571625" cy="1571625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427E1EE-D84B-451F-87C6-5E5EE3FB216D}"/>
              </a:ext>
            </a:extLst>
          </p:cNvPr>
          <p:cNvSpPr>
            <a:spLocks noGrp="1"/>
          </p:cNvSpPr>
          <p:nvPr/>
        </p:nvSpPr>
        <p:spPr>
          <a:xfrm>
            <a:off x="723900" y="1066800"/>
            <a:ext cx="6096000" cy="198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6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34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Monitoramento climático</a:t>
            </a:r>
            <a:endParaRPr sz="3400" b="1" dirty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FE84837-1043-4D18-823C-E6EFD868EE56}"/>
              </a:ext>
            </a:extLst>
          </p:cNvPr>
          <p:cNvSpPr>
            <a:spLocks noGrp="1"/>
          </p:cNvSpPr>
          <p:nvPr/>
        </p:nvSpPr>
        <p:spPr>
          <a:xfrm>
            <a:off x="723900" y="3200400"/>
            <a:ext cx="5791200" cy="787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40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Sistema embarcado com ESP32, sensores e dashboard web para ampliar o acesso público a dados climáticos.</a:t>
            </a:r>
            <a:endParaRPr sz="140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16DCBD10-9349-4EF2-ABF4-1671E2ED3772}"/>
              </a:ext>
            </a:extLst>
          </p:cNvPr>
          <p:cNvSpPr>
            <a:spLocks noGrp="1"/>
          </p:cNvSpPr>
          <p:nvPr/>
        </p:nvSpPr>
        <p:spPr>
          <a:xfrm>
            <a:off x="723900" y="3994765"/>
            <a:ext cx="4495800" cy="0"/>
          </a:xfrm>
          <a:prstGeom prst="line">
            <a:avLst/>
          </a:prstGeom>
          <a:noFill/>
          <a:ln w="19050">
            <a:solidFill>
              <a:srgbClr val="32D7E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CF9519E-932C-4D1A-895D-5490755E053F}"/>
              </a:ext>
            </a:extLst>
          </p:cNvPr>
          <p:cNvSpPr>
            <a:spLocks noGrp="1"/>
          </p:cNvSpPr>
          <p:nvPr/>
        </p:nvSpPr>
        <p:spPr>
          <a:xfrm>
            <a:off x="723900" y="4597400"/>
            <a:ext cx="4572000" cy="25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1200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Equipe </a:t>
            </a:r>
          </a:p>
          <a:p>
            <a:pPr>
              <a:defRPr sz="12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1600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Igor Ribeiro Morais da Silva     RA: R335011</a:t>
            </a:r>
          </a:p>
          <a:p>
            <a:pPr>
              <a:defRPr sz="12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1600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Rafael Santana    RA: R9563c0</a:t>
            </a:r>
          </a:p>
          <a:p>
            <a:pPr>
              <a:defRPr sz="12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1600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Ricardo Majuste  RA: R949680</a:t>
            </a:r>
          </a:p>
          <a:p>
            <a:pPr>
              <a:defRPr sz="12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1600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Saskia Magarifuchi  RA: R804DA6</a:t>
            </a:r>
            <a:endParaRPr sz="1600" dirty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3463042-9134-493E-A940-DB62412C4511}"/>
              </a:ext>
            </a:extLst>
          </p:cNvPr>
          <p:cNvSpPr>
            <a:spLocks noGrp="1"/>
          </p:cNvSpPr>
          <p:nvPr/>
        </p:nvSpPr>
        <p:spPr>
          <a:xfrm>
            <a:off x="730045" y="5334000"/>
            <a:ext cx="5334000" cy="25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60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Cursos: ADS e Ciência da computação</a:t>
            </a:r>
            <a:endParaRPr sz="160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2FA248D-076C-4EE9-88D3-EA1E094CF43A}"/>
              </a:ext>
            </a:extLst>
          </p:cNvPr>
          <p:cNvSpPr>
            <a:spLocks noGrp="1"/>
          </p:cNvSpPr>
          <p:nvPr/>
        </p:nvSpPr>
        <p:spPr>
          <a:xfrm>
            <a:off x="8020050" y="2305050"/>
            <a:ext cx="342900" cy="342900"/>
          </a:xfrm>
          <a:prstGeom prst="ellipse">
            <a:avLst/>
          </a:prstGeom>
          <a:solidFill>
            <a:srgbClr val="65E2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EBCF55A-44F2-4D9D-8ACB-318F9C3E0B7D}"/>
              </a:ext>
            </a:extLst>
          </p:cNvPr>
          <p:cNvSpPr>
            <a:spLocks noGrp="1"/>
          </p:cNvSpPr>
          <p:nvPr/>
        </p:nvSpPr>
        <p:spPr>
          <a:xfrm>
            <a:off x="9525000" y="1666875"/>
            <a:ext cx="419100" cy="419100"/>
          </a:xfrm>
          <a:prstGeom prst="ellipse">
            <a:avLst/>
          </a:prstGeom>
          <a:solidFill>
            <a:srgbClr val="FFB65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A52DF07-2CD1-4272-8C5B-B23490F046D9}"/>
              </a:ext>
            </a:extLst>
          </p:cNvPr>
          <p:cNvSpPr>
            <a:spLocks noGrp="1"/>
          </p:cNvSpPr>
          <p:nvPr/>
        </p:nvSpPr>
        <p:spPr>
          <a:xfrm>
            <a:off x="10429875" y="3238500"/>
            <a:ext cx="304800" cy="3048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0672B44-4431-4DA4-8762-BBB57350116F}"/>
              </a:ext>
            </a:extLst>
          </p:cNvPr>
          <p:cNvSpPr>
            <a:spLocks noGrp="1"/>
          </p:cNvSpPr>
          <p:nvPr/>
        </p:nvSpPr>
        <p:spPr>
          <a:xfrm>
            <a:off x="8477250" y="3762375"/>
            <a:ext cx="266700" cy="266700"/>
          </a:xfrm>
          <a:prstGeom prst="ellipse">
            <a:avLst/>
          </a:prstGeom>
          <a:solidFill>
            <a:srgbClr val="1E83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B6C60F17-A294-4ACF-AB53-625AD01B412E}"/>
              </a:ext>
            </a:extLst>
          </p:cNvPr>
          <p:cNvSpPr>
            <a:spLocks noGrp="1"/>
          </p:cNvSpPr>
          <p:nvPr/>
        </p:nvSpPr>
        <p:spPr>
          <a:xfrm>
            <a:off x="8191500" y="1857375"/>
            <a:ext cx="1543050" cy="619125"/>
          </a:xfrm>
          <a:prstGeom prst="line">
            <a:avLst/>
          </a:prstGeom>
          <a:noFill/>
          <a:ln w="28575">
            <a:solidFill>
              <a:srgbClr val="6EA6C9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784AF7B3-1827-4EF6-8471-CF6AD7A9FEBD}"/>
              </a:ext>
            </a:extLst>
          </p:cNvPr>
          <p:cNvSpPr>
            <a:spLocks noGrp="1"/>
          </p:cNvSpPr>
          <p:nvPr/>
        </p:nvSpPr>
        <p:spPr>
          <a:xfrm>
            <a:off x="9715500" y="2076450"/>
            <a:ext cx="838200" cy="1228725"/>
          </a:xfrm>
          <a:prstGeom prst="line">
            <a:avLst/>
          </a:prstGeom>
          <a:noFill/>
          <a:ln w="28575">
            <a:solidFill>
              <a:srgbClr val="6EA6C9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415588F0-3357-43DD-A334-E33C84E55212}"/>
              </a:ext>
            </a:extLst>
          </p:cNvPr>
          <p:cNvSpPr>
            <a:spLocks noGrp="1"/>
          </p:cNvSpPr>
          <p:nvPr/>
        </p:nvSpPr>
        <p:spPr>
          <a:xfrm>
            <a:off x="8648700" y="3429000"/>
            <a:ext cx="1828800" cy="428625"/>
          </a:xfrm>
          <a:prstGeom prst="line">
            <a:avLst/>
          </a:prstGeom>
          <a:noFill/>
          <a:ln w="28575">
            <a:solidFill>
              <a:srgbClr val="6EA6C9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255B1466-7399-49C8-AA44-C19EF974C4FB}"/>
              </a:ext>
            </a:extLst>
          </p:cNvPr>
          <p:cNvSpPr>
            <a:spLocks noGrp="1"/>
          </p:cNvSpPr>
          <p:nvPr/>
        </p:nvSpPr>
        <p:spPr>
          <a:xfrm>
            <a:off x="8191500" y="2619375"/>
            <a:ext cx="457200" cy="1190625"/>
          </a:xfrm>
          <a:prstGeom prst="line">
            <a:avLst/>
          </a:prstGeom>
          <a:noFill/>
          <a:ln w="28575">
            <a:solidFill>
              <a:srgbClr val="6EA6C9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3D52476-29B5-401F-904F-ACEA7F2C5277}"/>
              </a:ext>
            </a:extLst>
          </p:cNvPr>
          <p:cNvSpPr>
            <a:spLocks noGrp="1"/>
          </p:cNvSpPr>
          <p:nvPr/>
        </p:nvSpPr>
        <p:spPr>
          <a:xfrm>
            <a:off x="7696200" y="2781300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>
              <a:defRPr sz="9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SENSORES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ABEEFF7-FC31-4BCB-B369-0596E6C520B8}"/>
              </a:ext>
            </a:extLst>
          </p:cNvPr>
          <p:cNvSpPr>
            <a:spLocks noGrp="1"/>
          </p:cNvSpPr>
          <p:nvPr/>
        </p:nvSpPr>
        <p:spPr>
          <a:xfrm>
            <a:off x="9258300" y="2333625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>
              <a:defRPr sz="9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ESP32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7653F43-EE93-41DC-82A3-6E53D61CDEFC}"/>
              </a:ext>
            </a:extLst>
          </p:cNvPr>
          <p:cNvSpPr>
            <a:spLocks noGrp="1"/>
          </p:cNvSpPr>
          <p:nvPr/>
        </p:nvSpPr>
        <p:spPr>
          <a:xfrm>
            <a:off x="10096500" y="3714750"/>
            <a:ext cx="8382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>
              <a:defRPr sz="9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4199026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E71A3481-4EEB-4A27-8741-812A8A7B3D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69BAE808-7B3B-49C9-A6A0-0D1ED329E991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3235C87-DAD4-411D-85A8-891D03CF87A0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A2B0CE-B1F9-4AA7-BA0A-B6ECD55BFEDA}"/>
              </a:ext>
            </a:extLst>
          </p:cNvPr>
          <p:cNvSpPr>
            <a:spLocks noGrp="1"/>
          </p:cNvSpPr>
          <p:nvPr/>
        </p:nvSpPr>
        <p:spPr>
          <a:xfrm>
            <a:off x="790575" y="695325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24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Contexto e problema</a:t>
            </a:r>
            <a:endParaRPr sz="2400" b="1" dirty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20CF449-BB04-4C26-950A-CFB826F9B2E7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1">
                <a:solidFill>
                  <a:srgbClr val="32D7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2D7E8"/>
                </a:solidFill>
                <a:latin typeface="Aptos"/>
                <a:ea typeface="Aptos"/>
                <a:cs typeface="Aptos"/>
              </a:rPr>
              <a:t>Desafio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9A531B4-CE19-4C30-8352-39F1FC6CD38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485775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119" lnSpcReduction="10000"/>
          </a:bodyPr>
          <a:lstStyle/>
          <a:p>
            <a:pPr>
              <a:defRPr sz="20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Falta de monitoramento local, contínuo e acessível para apoiar decisões da comunidade e do poder público.</a:t>
            </a:r>
          </a:p>
        </p:txBody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1090F7CB-F4E7-4218-BFA3-3D5BE13C0C23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10287000" cy="0"/>
          </a:xfrm>
          <a:prstGeom prst="line">
            <a:avLst/>
          </a:prstGeom>
          <a:noFill/>
          <a:ln w="19050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6E8F888-94AE-43F1-9B37-4B077713DFA4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00050" cy="400050"/>
          </a:xfrm>
          <a:prstGeom prst="ellipse">
            <a:avLst/>
          </a:prstGeom>
          <a:solidFill>
            <a:srgbClr val="FFB654"/>
          </a:solidFill>
          <a:ln w="0">
            <a:noFill/>
          </a:ln>
        </p:spPr>
        <p:txBody>
          <a:bodyPr/>
          <a:lstStyle/>
          <a:p>
            <a:endParaRPr lang="pt-BR" sz="400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47A604A-EB7E-4CE1-A448-573B379F06E5}"/>
              </a:ext>
            </a:extLst>
          </p:cNvPr>
          <p:cNvSpPr>
            <a:spLocks noGrp="1"/>
          </p:cNvSpPr>
          <p:nvPr/>
        </p:nvSpPr>
        <p:spPr>
          <a:xfrm>
            <a:off x="697992" y="4018788"/>
            <a:ext cx="4000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071B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C3A7735-837C-46FA-9A57-5384CBE8D2DC}"/>
              </a:ext>
            </a:extLst>
          </p:cNvPr>
          <p:cNvSpPr>
            <a:spLocks noGrp="1"/>
          </p:cNvSpPr>
          <p:nvPr/>
        </p:nvSpPr>
        <p:spPr>
          <a:xfrm>
            <a:off x="1238250" y="385762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Ilhas de calor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27D30A4-D267-4AE9-AD72-8381D7EBCA4D}"/>
              </a:ext>
            </a:extLst>
          </p:cNvPr>
          <p:cNvSpPr>
            <a:spLocks noGrp="1"/>
          </p:cNvSpPr>
          <p:nvPr/>
        </p:nvSpPr>
        <p:spPr>
          <a:xfrm>
            <a:off x="1238250" y="4200525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12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25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A temperatura varia entre bairros e áreas verdes.</a:t>
            </a:r>
            <a:endParaRPr sz="1125" b="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F445D33-75D7-4AA5-ACE6-625E8B8EA785}"/>
              </a:ext>
            </a:extLst>
          </p:cNvPr>
          <p:cNvSpPr>
            <a:spLocks noGrp="1"/>
          </p:cNvSpPr>
          <p:nvPr/>
        </p:nvSpPr>
        <p:spPr>
          <a:xfrm>
            <a:off x="4162425" y="3905250"/>
            <a:ext cx="400050" cy="40005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8D49164-D659-4118-8CDF-F1F5B50E6BEA}"/>
              </a:ext>
            </a:extLst>
          </p:cNvPr>
          <p:cNvSpPr>
            <a:spLocks noGrp="1"/>
          </p:cNvSpPr>
          <p:nvPr/>
        </p:nvSpPr>
        <p:spPr>
          <a:xfrm>
            <a:off x="4714875" y="385762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Poluição localizada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3882655-9078-4B89-A6B5-BA407AE61096}"/>
              </a:ext>
            </a:extLst>
          </p:cNvPr>
          <p:cNvSpPr>
            <a:spLocks noGrp="1"/>
          </p:cNvSpPr>
          <p:nvPr/>
        </p:nvSpPr>
        <p:spPr>
          <a:xfrm>
            <a:off x="4714875" y="4200525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12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FC2D6"/>
                </a:solidFill>
                <a:latin typeface="Aptos"/>
                <a:ea typeface="Aptos"/>
                <a:cs typeface="Aptos"/>
              </a:rPr>
              <a:t>Partículas e gases exigem observação frequente.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F3C7DB6-21D1-40AE-8BB9-B2FF6D928168}"/>
              </a:ext>
            </a:extLst>
          </p:cNvPr>
          <p:cNvSpPr>
            <a:spLocks noGrp="1"/>
          </p:cNvSpPr>
          <p:nvPr/>
        </p:nvSpPr>
        <p:spPr>
          <a:xfrm>
            <a:off x="7639050" y="3905250"/>
            <a:ext cx="400050" cy="400050"/>
          </a:xfrm>
          <a:prstGeom prst="ellipse">
            <a:avLst/>
          </a:prstGeom>
          <a:solidFill>
            <a:srgbClr val="65E2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642AE94-D5CB-4FA0-AD27-2D66BD833E71}"/>
              </a:ext>
            </a:extLst>
          </p:cNvPr>
          <p:cNvSpPr>
            <a:spLocks noGrp="1"/>
          </p:cNvSpPr>
          <p:nvPr/>
        </p:nvSpPr>
        <p:spPr>
          <a:xfrm>
            <a:off x="8191500" y="385762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Dados dispersos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022FF2A-DA59-40EC-BD00-D2ABDE428395}"/>
              </a:ext>
            </a:extLst>
          </p:cNvPr>
          <p:cNvSpPr>
            <a:spLocks noGrp="1"/>
          </p:cNvSpPr>
          <p:nvPr/>
        </p:nvSpPr>
        <p:spPr>
          <a:xfrm>
            <a:off x="8191500" y="4200525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12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25" b="0">
                <a:solidFill>
                  <a:srgbClr val="AFC2D6"/>
                </a:solidFill>
                <a:latin typeface="Aptos"/>
                <a:ea typeface="Aptos"/>
                <a:cs typeface="Aptos"/>
              </a:rPr>
              <a:t>Poucas informações técnicas chegam ao cidadão.</a:t>
            </a:r>
            <a:endParaRPr sz="1125" b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9DC11FB-7236-31B9-E5D0-B1A4A1F4A8B0}"/>
              </a:ext>
            </a:extLst>
          </p:cNvPr>
          <p:cNvSpPr>
            <a:spLocks noGrp="1"/>
          </p:cNvSpPr>
          <p:nvPr/>
        </p:nvSpPr>
        <p:spPr>
          <a:xfrm>
            <a:off x="4197668" y="4018788"/>
            <a:ext cx="4000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lang="pt-BR" sz="2000" b="1" dirty="0">
                <a:solidFill>
                  <a:srgbClr val="071B3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D6259DE-B1BA-DB10-1C7F-13728C648423}"/>
              </a:ext>
            </a:extLst>
          </p:cNvPr>
          <p:cNvSpPr>
            <a:spLocks noGrp="1"/>
          </p:cNvSpPr>
          <p:nvPr/>
        </p:nvSpPr>
        <p:spPr>
          <a:xfrm>
            <a:off x="7678103" y="4018788"/>
            <a:ext cx="4000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lang="pt-BR" sz="2000" b="1" dirty="0">
                <a:solidFill>
                  <a:srgbClr val="071B3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52414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CD2FF30A-EBC5-4370-9F90-CED9E571DA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F8EE7DD-3B05-44D2-903C-623C1FC30179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98F5F60-035F-4022-ADAF-09BA43E405A0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626773E-93FF-46C5-9803-15A6817FA16C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24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Proposta de solução</a:t>
            </a:r>
            <a:endParaRPr sz="240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4AD72FE-544A-436F-891C-502D50D720DE}"/>
              </a:ext>
            </a:extLst>
          </p:cNvPr>
          <p:cNvSpPr>
            <a:spLocks noGrp="1"/>
          </p:cNvSpPr>
          <p:nvPr/>
        </p:nvSpPr>
        <p:spPr>
          <a:xfrm>
            <a:off x="685800" y="923925"/>
            <a:ext cx="8763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60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Uma estação de baixo custo coleta dados, envia as leituras à nuvem e alimenta uma visualização pública</a:t>
            </a:r>
            <a:r>
              <a:rPr sz="16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CA671BD-BE81-4243-9040-BA8E410EE23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362200" cy="2476500"/>
          </a:xfrm>
          <a:prstGeom prst="roundRect">
            <a:avLst>
              <a:gd name="adj" fmla="val 3226"/>
            </a:avLst>
          </a:prstGeom>
          <a:solidFill>
            <a:srgbClr val="0D2B47"/>
          </a:solidFill>
          <a:ln w="952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5F9F449-5299-4158-8AF1-DC9B3D476CD1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05" lnSpcReduction="20000"/>
          </a:bodyPr>
          <a:lstStyle/>
          <a:p>
            <a:pPr>
              <a:defRPr sz="1950" b="1">
                <a:solidFill>
                  <a:srgbClr val="32D7E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2D7E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BF13004-07ED-488C-9A9E-323A266E884C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1952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Estação ambiental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3EE74CC-6EDD-40C7-AEE5-DE11F2A9F096}"/>
              </a:ext>
            </a:extLst>
          </p:cNvPr>
          <p:cNvSpPr>
            <a:spLocks noGrp="1"/>
          </p:cNvSpPr>
          <p:nvPr/>
        </p:nvSpPr>
        <p:spPr>
          <a:xfrm>
            <a:off x="914400" y="3219450"/>
            <a:ext cx="185737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2D6"/>
                </a:solidFill>
                <a:latin typeface="Aptos"/>
                <a:ea typeface="Aptos"/>
                <a:cs typeface="Aptos"/>
              </a:rPr>
              <a:t>Sensores conectados ao ESP32</a:t>
            </a:r>
          </a:p>
        </p:txBody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F220231B-626C-4600-9A5F-8FE2A99A66B9}"/>
              </a:ext>
            </a:extLst>
          </p:cNvPr>
          <p:cNvSpPr>
            <a:spLocks noGrp="1"/>
          </p:cNvSpPr>
          <p:nvPr/>
        </p:nvSpPr>
        <p:spPr>
          <a:xfrm>
            <a:off x="3048000" y="3333750"/>
            <a:ext cx="361950" cy="0"/>
          </a:xfrm>
          <a:prstGeom prst="line">
            <a:avLst/>
          </a:prstGeom>
          <a:noFill/>
          <a:ln w="28575">
            <a:solidFill>
              <a:srgbClr val="32D7E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E569361-C957-4E9E-B8E3-FB19906DF475}"/>
              </a:ext>
            </a:extLst>
          </p:cNvPr>
          <p:cNvSpPr>
            <a:spLocks noGrp="1"/>
          </p:cNvSpPr>
          <p:nvPr/>
        </p:nvSpPr>
        <p:spPr>
          <a:xfrm>
            <a:off x="3276600" y="3257550"/>
            <a:ext cx="152400" cy="1524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9F58145-A07A-42D0-BA78-259BD4FC6F46}"/>
              </a:ext>
            </a:extLst>
          </p:cNvPr>
          <p:cNvSpPr>
            <a:spLocks noGrp="1"/>
          </p:cNvSpPr>
          <p:nvPr/>
        </p:nvSpPr>
        <p:spPr>
          <a:xfrm>
            <a:off x="3409950" y="2095500"/>
            <a:ext cx="2362200" cy="2476500"/>
          </a:xfrm>
          <a:prstGeom prst="roundRect">
            <a:avLst>
              <a:gd name="adj" fmla="val 3226"/>
            </a:avLst>
          </a:prstGeom>
          <a:solidFill>
            <a:srgbClr val="0D2B47"/>
          </a:solidFill>
          <a:ln w="952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A0528A4-383B-4849-A140-8244CB375F7C}"/>
              </a:ext>
            </a:extLst>
          </p:cNvPr>
          <p:cNvSpPr>
            <a:spLocks noGrp="1"/>
          </p:cNvSpPr>
          <p:nvPr/>
        </p:nvSpPr>
        <p:spPr>
          <a:xfrm>
            <a:off x="3638550" y="23050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05" lnSpcReduction="20000"/>
          </a:bodyPr>
          <a:lstStyle/>
          <a:p>
            <a:pPr>
              <a:defRPr sz="1950" b="1">
                <a:solidFill>
                  <a:srgbClr val="65E2A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5E2A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384F0FA-1F73-417D-9A50-D55AB7F32B6B}"/>
              </a:ext>
            </a:extLst>
          </p:cNvPr>
          <p:cNvSpPr>
            <a:spLocks noGrp="1"/>
          </p:cNvSpPr>
          <p:nvPr/>
        </p:nvSpPr>
        <p:spPr>
          <a:xfrm>
            <a:off x="3638550" y="2819400"/>
            <a:ext cx="1952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Conectividade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3F5BFBE-0C41-44DA-A280-F46CB05A3FDB}"/>
              </a:ext>
            </a:extLst>
          </p:cNvPr>
          <p:cNvSpPr>
            <a:spLocks noGrp="1"/>
          </p:cNvSpPr>
          <p:nvPr/>
        </p:nvSpPr>
        <p:spPr>
          <a:xfrm>
            <a:off x="3638550" y="3219450"/>
            <a:ext cx="185737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2D6"/>
                </a:solidFill>
                <a:latin typeface="Aptos"/>
                <a:ea typeface="Aptos"/>
                <a:cs typeface="Aptos"/>
              </a:rPr>
              <a:t>Wi-Fi envia leituras para a API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9264A85E-1704-4E56-993D-8B1D0F6E70BA}"/>
              </a:ext>
            </a:extLst>
          </p:cNvPr>
          <p:cNvSpPr>
            <a:spLocks noGrp="1"/>
          </p:cNvSpPr>
          <p:nvPr/>
        </p:nvSpPr>
        <p:spPr>
          <a:xfrm>
            <a:off x="5772150" y="3333750"/>
            <a:ext cx="361950" cy="0"/>
          </a:xfrm>
          <a:prstGeom prst="line">
            <a:avLst/>
          </a:prstGeom>
          <a:noFill/>
          <a:ln w="28575">
            <a:solidFill>
              <a:srgbClr val="32D7E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AF7458B-7FD1-4621-B62B-195F528B4418}"/>
              </a:ext>
            </a:extLst>
          </p:cNvPr>
          <p:cNvSpPr>
            <a:spLocks noGrp="1"/>
          </p:cNvSpPr>
          <p:nvPr/>
        </p:nvSpPr>
        <p:spPr>
          <a:xfrm>
            <a:off x="6000750" y="3257550"/>
            <a:ext cx="152400" cy="1524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55266F0-64AC-475F-8CC4-248EF5AA33C5}"/>
              </a:ext>
            </a:extLst>
          </p:cNvPr>
          <p:cNvSpPr>
            <a:spLocks noGrp="1"/>
          </p:cNvSpPr>
          <p:nvPr/>
        </p:nvSpPr>
        <p:spPr>
          <a:xfrm>
            <a:off x="6134100" y="2095500"/>
            <a:ext cx="2362200" cy="2476500"/>
          </a:xfrm>
          <a:prstGeom prst="roundRect">
            <a:avLst>
              <a:gd name="adj" fmla="val 3226"/>
            </a:avLst>
          </a:prstGeom>
          <a:solidFill>
            <a:srgbClr val="0D2B47"/>
          </a:solidFill>
          <a:ln w="952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2EAD9AE-0026-4610-8C68-43E9DC2288DB}"/>
              </a:ext>
            </a:extLst>
          </p:cNvPr>
          <p:cNvSpPr>
            <a:spLocks noGrp="1"/>
          </p:cNvSpPr>
          <p:nvPr/>
        </p:nvSpPr>
        <p:spPr>
          <a:xfrm>
            <a:off x="6362700" y="23050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05" lnSpcReduction="20000"/>
          </a:bodyPr>
          <a:lstStyle/>
          <a:p>
            <a:pPr>
              <a:defRPr sz="1950" b="1">
                <a:solidFill>
                  <a:srgbClr val="FFB65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B65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01966C0-E474-4DEF-9683-A3B05F4EF8CA}"/>
              </a:ext>
            </a:extLst>
          </p:cNvPr>
          <p:cNvSpPr>
            <a:spLocks noGrp="1"/>
          </p:cNvSpPr>
          <p:nvPr/>
        </p:nvSpPr>
        <p:spPr>
          <a:xfrm>
            <a:off x="6362700" y="2819400"/>
            <a:ext cx="1952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Plataforma web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2DB3DA7-61B7-409D-98EA-A650D7F85D5C}"/>
              </a:ext>
            </a:extLst>
          </p:cNvPr>
          <p:cNvSpPr>
            <a:spLocks noGrp="1"/>
          </p:cNvSpPr>
          <p:nvPr/>
        </p:nvSpPr>
        <p:spPr>
          <a:xfrm>
            <a:off x="6362700" y="3219450"/>
            <a:ext cx="185737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2D6"/>
                </a:solidFill>
                <a:latin typeface="Aptos"/>
                <a:ea typeface="Aptos"/>
                <a:cs typeface="Aptos"/>
              </a:rPr>
              <a:t>Dashboard exibe histórico e alertas</a:t>
            </a:r>
          </a:p>
        </p:txBody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698BB621-8F90-4AAC-AFA6-708E6E9B041B}"/>
              </a:ext>
            </a:extLst>
          </p:cNvPr>
          <p:cNvSpPr>
            <a:spLocks noGrp="1"/>
          </p:cNvSpPr>
          <p:nvPr/>
        </p:nvSpPr>
        <p:spPr>
          <a:xfrm>
            <a:off x="8496300" y="3333750"/>
            <a:ext cx="361950" cy="0"/>
          </a:xfrm>
          <a:prstGeom prst="line">
            <a:avLst/>
          </a:prstGeom>
          <a:noFill/>
          <a:ln w="28575">
            <a:solidFill>
              <a:srgbClr val="32D7E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49D727E-0828-4352-BF91-BD254D7217EB}"/>
              </a:ext>
            </a:extLst>
          </p:cNvPr>
          <p:cNvSpPr>
            <a:spLocks noGrp="1"/>
          </p:cNvSpPr>
          <p:nvPr/>
        </p:nvSpPr>
        <p:spPr>
          <a:xfrm>
            <a:off x="8724900" y="3257550"/>
            <a:ext cx="152400" cy="1524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AB67F59-EF87-4B64-A5DE-5742477C8FEA}"/>
              </a:ext>
            </a:extLst>
          </p:cNvPr>
          <p:cNvSpPr>
            <a:spLocks noGrp="1"/>
          </p:cNvSpPr>
          <p:nvPr/>
        </p:nvSpPr>
        <p:spPr>
          <a:xfrm>
            <a:off x="8858250" y="2095500"/>
            <a:ext cx="2362200" cy="2476500"/>
          </a:xfrm>
          <a:prstGeom prst="roundRect">
            <a:avLst>
              <a:gd name="adj" fmla="val 3226"/>
            </a:avLst>
          </a:prstGeom>
          <a:solidFill>
            <a:srgbClr val="0D2B47"/>
          </a:solidFill>
          <a:ln w="952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7690BB4-51D1-4902-AA87-96B89F17AE96}"/>
              </a:ext>
            </a:extLst>
          </p:cNvPr>
          <p:cNvSpPr>
            <a:spLocks noGrp="1"/>
          </p:cNvSpPr>
          <p:nvPr/>
        </p:nvSpPr>
        <p:spPr>
          <a:xfrm>
            <a:off x="9086850" y="23050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05" lnSpcReduction="20000"/>
          </a:bodyPr>
          <a:lstStyle/>
          <a:p>
            <a:pPr>
              <a:defRPr sz="1950" b="1">
                <a:solidFill>
                  <a:srgbClr val="1E83E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E83E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B8AE4C1-674A-4F7C-8990-1FC60B8107A3}"/>
              </a:ext>
            </a:extLst>
          </p:cNvPr>
          <p:cNvSpPr>
            <a:spLocks noGrp="1"/>
          </p:cNvSpPr>
          <p:nvPr/>
        </p:nvSpPr>
        <p:spPr>
          <a:xfrm>
            <a:off x="9086850" y="2819400"/>
            <a:ext cx="1952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Dados abertos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BCE6924-AAD0-4B26-85F4-48CFF0642C58}"/>
              </a:ext>
            </a:extLst>
          </p:cNvPr>
          <p:cNvSpPr>
            <a:spLocks noGrp="1"/>
          </p:cNvSpPr>
          <p:nvPr/>
        </p:nvSpPr>
        <p:spPr>
          <a:xfrm>
            <a:off x="9086850" y="3219450"/>
            <a:ext cx="185737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2D6"/>
                </a:solidFill>
                <a:latin typeface="Aptos"/>
                <a:ea typeface="Aptos"/>
                <a:cs typeface="Aptos"/>
              </a:rPr>
              <a:t>Comunidade consulta e reutiliza dados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96EAC8D-71C6-4A9E-89DE-4EDFD48B9EBD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Fluxo integrado entre ambiente físico, conectividade e informação pública</a:t>
            </a:r>
          </a:p>
        </p:txBody>
      </p:sp>
    </p:spTree>
    <p:extLst>
      <p:ext uri="{BB962C8B-B14F-4D97-AF65-F5344CB8AC3E}">
        <p14:creationId xmlns:p14="http://schemas.microsoft.com/office/powerpoint/2010/main" val="194111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D17A5101-BD28-45D1-9AAE-03D956888E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6B28A11-8665-4C73-BD74-EE32DAFEECD5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BEC8593-541F-4FCC-8823-C0FA20453086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B069664-F36D-4A41-893B-F47D2A6E5C1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24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Placa de ensaio</a:t>
            </a:r>
            <a:endParaRPr sz="240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2315D6C-12F5-4026-8D70-497AF56922BC}"/>
              </a:ext>
            </a:extLst>
          </p:cNvPr>
          <p:cNvSpPr>
            <a:spLocks noGrp="1"/>
          </p:cNvSpPr>
          <p:nvPr/>
        </p:nvSpPr>
        <p:spPr>
          <a:xfrm>
            <a:off x="685800" y="923925"/>
            <a:ext cx="6137787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6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A protoboard organiza conexões temporárias e acelera testes do circuito antes da montagem definitiva</a:t>
            </a:r>
            <a:r>
              <a:rPr lang="pt-BR" sz="12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.</a:t>
            </a:r>
            <a:endParaRPr sz="1200" b="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6B2F7F32-55F7-401A-8DC2-38649ADD5E42}"/>
              </a:ext>
            </a:extLst>
          </p:cNvPr>
          <p:cNvSpPr>
            <a:spLocks noGrp="1"/>
          </p:cNvSpPr>
          <p:nvPr/>
        </p:nvSpPr>
        <p:spPr>
          <a:xfrm>
            <a:off x="3238500" y="233362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42B78E8-9DDA-4681-BD61-5969763429DF}"/>
              </a:ext>
            </a:extLst>
          </p:cNvPr>
          <p:cNvSpPr>
            <a:spLocks noGrp="1"/>
          </p:cNvSpPr>
          <p:nvPr/>
        </p:nvSpPr>
        <p:spPr>
          <a:xfrm>
            <a:off x="4171950" y="2162175"/>
            <a:ext cx="342900" cy="3429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F356179-A378-4E15-88A7-EC611EE55319}"/>
              </a:ext>
            </a:extLst>
          </p:cNvPr>
          <p:cNvSpPr>
            <a:spLocks noGrp="1"/>
          </p:cNvSpPr>
          <p:nvPr/>
        </p:nvSpPr>
        <p:spPr>
          <a:xfrm>
            <a:off x="4171950" y="224790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BE185F0-2ADB-4A2E-AA6F-6DC8EB8C90C8}"/>
              </a:ext>
            </a:extLst>
          </p:cNvPr>
          <p:cNvSpPr>
            <a:spLocks noGrp="1"/>
          </p:cNvSpPr>
          <p:nvPr/>
        </p:nvSpPr>
        <p:spPr>
          <a:xfrm>
            <a:off x="4762500" y="204787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Como a placa conecta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EF7B2B-1A54-4A01-88B4-1C75C6021A5D}"/>
              </a:ext>
            </a:extLst>
          </p:cNvPr>
          <p:cNvSpPr>
            <a:spLocks noGrp="1"/>
          </p:cNvSpPr>
          <p:nvPr/>
        </p:nvSpPr>
        <p:spPr>
          <a:xfrm>
            <a:off x="4762500" y="237172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Linhas centrais conectam terminais de componentes; trilhas laterais distribuem alimentação e referência elétrica.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C49D63B4-FEB1-4FDE-A923-04E457E36C76}"/>
              </a:ext>
            </a:extLst>
          </p:cNvPr>
          <p:cNvSpPr>
            <a:spLocks noGrp="1"/>
          </p:cNvSpPr>
          <p:nvPr/>
        </p:nvSpPr>
        <p:spPr>
          <a:xfrm>
            <a:off x="3238500" y="3524250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8AE331A-D33C-4DD8-A70F-D7DDAB90B238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342900" cy="342900"/>
          </a:xfrm>
          <a:prstGeom prst="ellipse">
            <a:avLst/>
          </a:prstGeom>
          <a:solidFill>
            <a:srgbClr val="65E2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C1E81E0-456D-4BEA-8252-8E8E59F98B29}"/>
              </a:ext>
            </a:extLst>
          </p:cNvPr>
          <p:cNvSpPr>
            <a:spLocks noGrp="1"/>
          </p:cNvSpPr>
          <p:nvPr/>
        </p:nvSpPr>
        <p:spPr>
          <a:xfrm>
            <a:off x="4171950" y="3438525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CE8EE02-3904-4C5B-899B-1F3B82F5F7D1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Organizar a montagem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F5F9C6B-87D2-4251-8918-7B6D679B8E62}"/>
              </a:ext>
            </a:extLst>
          </p:cNvPr>
          <p:cNvSpPr>
            <a:spLocks noGrp="1"/>
          </p:cNvSpPr>
          <p:nvPr/>
        </p:nvSpPr>
        <p:spPr>
          <a:xfrm>
            <a:off x="4762500" y="3562350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Cores dos fios, rotas curtas e pontos de teste facilitam diagnóstico, alterações e repetição da montagem.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FD022A22-E72A-42D2-B1E0-8890EDC25153}"/>
              </a:ext>
            </a:extLst>
          </p:cNvPr>
          <p:cNvSpPr>
            <a:spLocks noGrp="1"/>
          </p:cNvSpPr>
          <p:nvPr/>
        </p:nvSpPr>
        <p:spPr>
          <a:xfrm>
            <a:off x="3238500" y="471487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70F5021-E6B1-4B87-8820-9CE2C898A7FD}"/>
              </a:ext>
            </a:extLst>
          </p:cNvPr>
          <p:cNvSpPr>
            <a:spLocks noGrp="1"/>
          </p:cNvSpPr>
          <p:nvPr/>
        </p:nvSpPr>
        <p:spPr>
          <a:xfrm>
            <a:off x="4171950" y="4543425"/>
            <a:ext cx="342900" cy="342900"/>
          </a:xfrm>
          <a:prstGeom prst="ellipse">
            <a:avLst/>
          </a:prstGeom>
          <a:solidFill>
            <a:srgbClr val="FFB65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6B408BF-C450-4F93-8C30-6AC538C6FD83}"/>
              </a:ext>
            </a:extLst>
          </p:cNvPr>
          <p:cNvSpPr>
            <a:spLocks noGrp="1"/>
          </p:cNvSpPr>
          <p:nvPr/>
        </p:nvSpPr>
        <p:spPr>
          <a:xfrm>
            <a:off x="4171950" y="462915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A2A2A16-339C-4288-902C-2F4D68F1B2A1}"/>
              </a:ext>
            </a:extLst>
          </p:cNvPr>
          <p:cNvSpPr>
            <a:spLocks noGrp="1"/>
          </p:cNvSpPr>
          <p:nvPr/>
        </p:nvSpPr>
        <p:spPr>
          <a:xfrm>
            <a:off x="4762500" y="442912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Cuidados com o protótipo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4308688-1C78-48D2-8762-159CA02BD209}"/>
              </a:ext>
            </a:extLst>
          </p:cNvPr>
          <p:cNvSpPr>
            <a:spLocks noGrp="1"/>
          </p:cNvSpPr>
          <p:nvPr/>
        </p:nvSpPr>
        <p:spPr>
          <a:xfrm>
            <a:off x="4762500" y="475297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Mau contato e vibração podem afetar leituras; a versão final deve usar placa soldada e proteção mecânica.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7EF72F9-040E-449C-B3BA-D947B4B83AE4}"/>
              </a:ext>
            </a:extLst>
          </p:cNvPr>
          <p:cNvSpPr/>
          <p:nvPr/>
        </p:nvSpPr>
        <p:spPr>
          <a:xfrm>
            <a:off x="914400" y="1993900"/>
            <a:ext cx="2324100" cy="28575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2D7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endParaRPr lang="pt-BR" sz="1200" b="1" dirty="0">
              <a:solidFill>
                <a:srgbClr val="AFC2D6"/>
              </a:solidFill>
              <a:latin typeface="Aptos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543BF1E1-A0AB-29AF-20AD-8FDA51B6D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565400"/>
            <a:ext cx="19812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51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D17A5101-BD28-45D1-9AAE-03D956888E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6B28A11-8665-4C73-BD74-EE32DAFEECD5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BEC8593-541F-4FCC-8823-C0FA20453086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B069664-F36D-4A41-893B-F47D2A6E5C1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24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Placa ESP32</a:t>
            </a:r>
            <a:endParaRPr sz="240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2315D6C-12F5-4026-8D70-497AF56922BC}"/>
              </a:ext>
            </a:extLst>
          </p:cNvPr>
          <p:cNvSpPr>
            <a:spLocks noGrp="1"/>
          </p:cNvSpPr>
          <p:nvPr/>
        </p:nvSpPr>
        <p:spPr>
          <a:xfrm>
            <a:off x="725209" y="862013"/>
            <a:ext cx="6137787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6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Atua como núcleo do protótipo, coordenando aquisição, tratamento, armazenamento temporário e comunicação dos dados</a:t>
            </a:r>
            <a:r>
              <a:rPr lang="pt-BR" sz="12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.</a:t>
            </a:r>
            <a:endParaRPr sz="1200" b="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6B2F7F32-55F7-401A-8DC2-38649ADD5E42}"/>
              </a:ext>
            </a:extLst>
          </p:cNvPr>
          <p:cNvSpPr>
            <a:spLocks noGrp="1"/>
          </p:cNvSpPr>
          <p:nvPr/>
        </p:nvSpPr>
        <p:spPr>
          <a:xfrm>
            <a:off x="3238500" y="233362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42B78E8-9DDA-4681-BD61-5969763429DF}"/>
              </a:ext>
            </a:extLst>
          </p:cNvPr>
          <p:cNvSpPr>
            <a:spLocks noGrp="1"/>
          </p:cNvSpPr>
          <p:nvPr/>
        </p:nvSpPr>
        <p:spPr>
          <a:xfrm>
            <a:off x="4171950" y="2162175"/>
            <a:ext cx="342900" cy="3429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F356179-A378-4E15-88A7-EC611EE55319}"/>
              </a:ext>
            </a:extLst>
          </p:cNvPr>
          <p:cNvSpPr>
            <a:spLocks noGrp="1"/>
          </p:cNvSpPr>
          <p:nvPr/>
        </p:nvSpPr>
        <p:spPr>
          <a:xfrm>
            <a:off x="4171950" y="224790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BE185F0-2ADB-4A2E-AA6F-6DC8EB8C90C8}"/>
              </a:ext>
            </a:extLst>
          </p:cNvPr>
          <p:cNvSpPr>
            <a:spLocks noGrp="1"/>
          </p:cNvSpPr>
          <p:nvPr/>
        </p:nvSpPr>
        <p:spPr>
          <a:xfrm>
            <a:off x="4762500" y="204787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Ler e processar dados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EF7B2B-1A54-4A01-88B4-1C75C6021A5D}"/>
              </a:ext>
            </a:extLst>
          </p:cNvPr>
          <p:cNvSpPr>
            <a:spLocks noGrp="1"/>
          </p:cNvSpPr>
          <p:nvPr/>
        </p:nvSpPr>
        <p:spPr>
          <a:xfrm>
            <a:off x="4762500" y="237172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Lê sinais analógicos e digitais, filtra ruídos e transforma amostras dos sensores em valores utilizáveis.</a:t>
            </a:r>
            <a:endParaRPr sz="110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C49D63B4-FEB1-4FDE-A923-04E457E36C76}"/>
              </a:ext>
            </a:extLst>
          </p:cNvPr>
          <p:cNvSpPr>
            <a:spLocks noGrp="1"/>
          </p:cNvSpPr>
          <p:nvPr/>
        </p:nvSpPr>
        <p:spPr>
          <a:xfrm>
            <a:off x="3238500" y="3524250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8AE331A-D33C-4DD8-A70F-D7DDAB90B238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342900" cy="342900"/>
          </a:xfrm>
          <a:prstGeom prst="ellipse">
            <a:avLst/>
          </a:prstGeom>
          <a:solidFill>
            <a:srgbClr val="65E2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C1E81E0-456D-4BEA-8252-8E8E59F98B29}"/>
              </a:ext>
            </a:extLst>
          </p:cNvPr>
          <p:cNvSpPr>
            <a:spLocks noGrp="1"/>
          </p:cNvSpPr>
          <p:nvPr/>
        </p:nvSpPr>
        <p:spPr>
          <a:xfrm>
            <a:off x="4171950" y="3438525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CE8EE02-3904-4C5B-899B-1F3B82F5F7D1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Controlar e transmitir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F5F9C6B-87D2-4251-8918-7B6D679B8E62}"/>
              </a:ext>
            </a:extLst>
          </p:cNvPr>
          <p:cNvSpPr>
            <a:spLocks noGrp="1"/>
          </p:cNvSpPr>
          <p:nvPr/>
        </p:nvSpPr>
        <p:spPr>
          <a:xfrm>
            <a:off x="4762500" y="3562350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O programa define intervalos, regras de alerta e envio por Wi-Fi ou Bluetooth para a camada de software.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FD022A22-E72A-42D2-B1E0-8890EDC25153}"/>
              </a:ext>
            </a:extLst>
          </p:cNvPr>
          <p:cNvSpPr>
            <a:spLocks noGrp="1"/>
          </p:cNvSpPr>
          <p:nvPr/>
        </p:nvSpPr>
        <p:spPr>
          <a:xfrm>
            <a:off x="3238500" y="471487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70F5021-E6B1-4B87-8820-9CE2C898A7FD}"/>
              </a:ext>
            </a:extLst>
          </p:cNvPr>
          <p:cNvSpPr>
            <a:spLocks noGrp="1"/>
          </p:cNvSpPr>
          <p:nvPr/>
        </p:nvSpPr>
        <p:spPr>
          <a:xfrm>
            <a:off x="4171950" y="4543425"/>
            <a:ext cx="342900" cy="342900"/>
          </a:xfrm>
          <a:prstGeom prst="ellipse">
            <a:avLst/>
          </a:prstGeom>
          <a:solidFill>
            <a:srgbClr val="FFB65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6B408BF-C450-4F93-8C30-6AC538C6FD83}"/>
              </a:ext>
            </a:extLst>
          </p:cNvPr>
          <p:cNvSpPr>
            <a:spLocks noGrp="1"/>
          </p:cNvSpPr>
          <p:nvPr/>
        </p:nvSpPr>
        <p:spPr>
          <a:xfrm>
            <a:off x="4171950" y="462915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A2A2A16-339C-4288-902C-2F4D68F1B2A1}"/>
              </a:ext>
            </a:extLst>
          </p:cNvPr>
          <p:cNvSpPr>
            <a:spLocks noGrp="1"/>
          </p:cNvSpPr>
          <p:nvPr/>
        </p:nvSpPr>
        <p:spPr>
          <a:xfrm>
            <a:off x="4762500" y="442912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Economizar energia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4308688-1C78-48D2-8762-159CA02BD209}"/>
              </a:ext>
            </a:extLst>
          </p:cNvPr>
          <p:cNvSpPr>
            <a:spLocks noGrp="1"/>
          </p:cNvSpPr>
          <p:nvPr/>
        </p:nvSpPr>
        <p:spPr>
          <a:xfrm>
            <a:off x="4762500" y="475297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Reinicialização automática, modo de economia e tratamento de falhas mantêm a estação operando por mais tempo.</a:t>
            </a:r>
            <a:endParaRPr sz="110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86F02C9-13CC-429F-B3C4-CD7891C79406}"/>
              </a:ext>
            </a:extLst>
          </p:cNvPr>
          <p:cNvSpPr/>
          <p:nvPr/>
        </p:nvSpPr>
        <p:spPr>
          <a:xfrm>
            <a:off x="914400" y="1993900"/>
            <a:ext cx="2324100" cy="28575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2D7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endParaRPr lang="pt-BR" sz="1200" b="1" dirty="0">
              <a:solidFill>
                <a:srgbClr val="AFC2D6"/>
              </a:solidFill>
              <a:latin typeface="Apto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ABA357D-8764-0123-A961-1D540F2DF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74263">
            <a:off x="948450" y="2605087"/>
            <a:ext cx="2256003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86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D17A5101-BD28-45D1-9AAE-03D956888E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6B28A11-8665-4C73-BD74-EE32DAFEECD5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BEC8593-541F-4FCC-8823-C0FA20453086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B069664-F36D-4A41-893B-F47D2A6E5C1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24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Módulos de transmissão</a:t>
            </a:r>
            <a:endParaRPr sz="240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2315D6C-12F5-4026-8D70-497AF56922BC}"/>
              </a:ext>
            </a:extLst>
          </p:cNvPr>
          <p:cNvSpPr>
            <a:spLocks noGrp="1"/>
          </p:cNvSpPr>
          <p:nvPr/>
        </p:nvSpPr>
        <p:spPr>
          <a:xfrm>
            <a:off x="685800" y="923925"/>
            <a:ext cx="6137787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6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Conectam o ponto de medição ao receptor por ligação cabeada, preservando a identificação e a sequência das leituras.</a:t>
            </a:r>
            <a:endParaRPr sz="1600" b="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6B2F7F32-55F7-401A-8DC2-38649ADD5E42}"/>
              </a:ext>
            </a:extLst>
          </p:cNvPr>
          <p:cNvSpPr>
            <a:spLocks noGrp="1"/>
          </p:cNvSpPr>
          <p:nvPr/>
        </p:nvSpPr>
        <p:spPr>
          <a:xfrm>
            <a:off x="3238500" y="233362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42B78E8-9DDA-4681-BD61-5969763429DF}"/>
              </a:ext>
            </a:extLst>
          </p:cNvPr>
          <p:cNvSpPr>
            <a:spLocks noGrp="1"/>
          </p:cNvSpPr>
          <p:nvPr/>
        </p:nvSpPr>
        <p:spPr>
          <a:xfrm>
            <a:off x="4171950" y="2162175"/>
            <a:ext cx="342900" cy="3429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F356179-A378-4E15-88A7-EC611EE55319}"/>
              </a:ext>
            </a:extLst>
          </p:cNvPr>
          <p:cNvSpPr>
            <a:spLocks noGrp="1"/>
          </p:cNvSpPr>
          <p:nvPr/>
        </p:nvSpPr>
        <p:spPr>
          <a:xfrm>
            <a:off x="4171950" y="224790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BE185F0-2ADB-4A2E-AA6F-6DC8EB8C90C8}"/>
              </a:ext>
            </a:extLst>
          </p:cNvPr>
          <p:cNvSpPr>
            <a:spLocks noGrp="1"/>
          </p:cNvSpPr>
          <p:nvPr/>
        </p:nvSpPr>
        <p:spPr>
          <a:xfrm>
            <a:off x="4762500" y="204787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Organizar os dados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EF7B2B-1A54-4A01-88B4-1C75C6021A5D}"/>
              </a:ext>
            </a:extLst>
          </p:cNvPr>
          <p:cNvSpPr>
            <a:spLocks noGrp="1"/>
          </p:cNvSpPr>
          <p:nvPr/>
        </p:nvSpPr>
        <p:spPr>
          <a:xfrm>
            <a:off x="4762500" y="237172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Organizam identificação da estação, horário e valores dos sensores em uma mensagem padronizada.</a:t>
            </a:r>
            <a:endParaRPr sz="110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C49D63B4-FEB1-4FDE-A923-04E457E36C76}"/>
              </a:ext>
            </a:extLst>
          </p:cNvPr>
          <p:cNvSpPr>
            <a:spLocks noGrp="1"/>
          </p:cNvSpPr>
          <p:nvPr/>
        </p:nvSpPr>
        <p:spPr>
          <a:xfrm>
            <a:off x="3238500" y="3524250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8AE331A-D33C-4DD8-A70F-D7DDAB90B238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342900" cy="342900"/>
          </a:xfrm>
          <a:prstGeom prst="ellipse">
            <a:avLst/>
          </a:prstGeom>
          <a:solidFill>
            <a:srgbClr val="65E2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C1E81E0-456D-4BEA-8252-8E8E59F98B29}"/>
              </a:ext>
            </a:extLst>
          </p:cNvPr>
          <p:cNvSpPr>
            <a:spLocks noGrp="1"/>
          </p:cNvSpPr>
          <p:nvPr/>
        </p:nvSpPr>
        <p:spPr>
          <a:xfrm>
            <a:off x="4171950" y="3438525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CE8EE02-3904-4C5B-899B-1F3B82F5F7D1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Transmitir por cabo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F5F9C6B-87D2-4251-8918-7B6D679B8E62}"/>
              </a:ext>
            </a:extLst>
          </p:cNvPr>
          <p:cNvSpPr>
            <a:spLocks noGrp="1"/>
          </p:cNvSpPr>
          <p:nvPr/>
        </p:nvSpPr>
        <p:spPr>
          <a:xfrm>
            <a:off x="4762500" y="3562350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A conexão cabeada transmite as leituras diretamente ao receptor, sem uso de Wi-Fi ou Bluetooth.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FD022A22-E72A-42D2-B1E0-8890EDC25153}"/>
              </a:ext>
            </a:extLst>
          </p:cNvPr>
          <p:cNvSpPr>
            <a:spLocks noGrp="1"/>
          </p:cNvSpPr>
          <p:nvPr/>
        </p:nvSpPr>
        <p:spPr>
          <a:xfrm>
            <a:off x="3238500" y="471487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70F5021-E6B1-4B87-8820-9CE2C898A7FD}"/>
              </a:ext>
            </a:extLst>
          </p:cNvPr>
          <p:cNvSpPr>
            <a:spLocks noGrp="1"/>
          </p:cNvSpPr>
          <p:nvPr/>
        </p:nvSpPr>
        <p:spPr>
          <a:xfrm>
            <a:off x="4171950" y="4543425"/>
            <a:ext cx="342900" cy="342900"/>
          </a:xfrm>
          <a:prstGeom prst="ellipse">
            <a:avLst/>
          </a:prstGeom>
          <a:solidFill>
            <a:srgbClr val="FFB65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6B408BF-C450-4F93-8C30-6AC538C6FD83}"/>
              </a:ext>
            </a:extLst>
          </p:cNvPr>
          <p:cNvSpPr>
            <a:spLocks noGrp="1"/>
          </p:cNvSpPr>
          <p:nvPr/>
        </p:nvSpPr>
        <p:spPr>
          <a:xfrm>
            <a:off x="4171950" y="462915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A2A2A16-339C-4288-902C-2F4D68F1B2A1}"/>
              </a:ext>
            </a:extLst>
          </p:cNvPr>
          <p:cNvSpPr>
            <a:spLocks noGrp="1"/>
          </p:cNvSpPr>
          <p:nvPr/>
        </p:nvSpPr>
        <p:spPr>
          <a:xfrm>
            <a:off x="4762500" y="442912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Evitar perda de dados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4308688-1C78-48D2-8762-159CA02BD209}"/>
              </a:ext>
            </a:extLst>
          </p:cNvPr>
          <p:cNvSpPr>
            <a:spLocks noGrp="1"/>
          </p:cNvSpPr>
          <p:nvPr/>
        </p:nvSpPr>
        <p:spPr>
          <a:xfrm>
            <a:off x="4762500" y="475297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Confirmações, novas tentativas e armazenamento temporário evitam perda de leituras em falhas de conexão.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31F139B-3FEA-42EF-82FB-7FAA6398394E}"/>
              </a:ext>
            </a:extLst>
          </p:cNvPr>
          <p:cNvSpPr/>
          <p:nvPr/>
        </p:nvSpPr>
        <p:spPr>
          <a:xfrm>
            <a:off x="914400" y="1993900"/>
            <a:ext cx="2324100" cy="28575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2D7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endParaRPr lang="pt-BR" sz="1200" b="1" dirty="0">
              <a:solidFill>
                <a:srgbClr val="AFC2D6"/>
              </a:solidFill>
              <a:latin typeface="Aptos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AB9EE5A5-71BD-5203-5D90-0C83841FC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07644">
            <a:off x="1079500" y="2717800"/>
            <a:ext cx="19812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5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D17A5101-BD28-45D1-9AAE-03D956888E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6B28A11-8665-4C73-BD74-EE32DAFEECD5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BEC8593-541F-4FCC-8823-C0FA20453086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B069664-F36D-4A41-893B-F47D2A6E5C1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24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Sensor de umidade</a:t>
            </a:r>
            <a:endParaRPr sz="240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2315D6C-12F5-4026-8D70-497AF56922BC}"/>
              </a:ext>
            </a:extLst>
          </p:cNvPr>
          <p:cNvSpPr>
            <a:spLocks noGrp="1"/>
          </p:cNvSpPr>
          <p:nvPr/>
        </p:nvSpPr>
        <p:spPr>
          <a:xfrm>
            <a:off x="685800" y="923925"/>
            <a:ext cx="6137787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6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Transforma a presença de água no ar ou no solo em um sinal que pode ser lido e comparado pelo ESP32</a:t>
            </a:r>
            <a:r>
              <a:rPr lang="pt-BR" sz="12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.</a:t>
            </a:r>
            <a:endParaRPr sz="1200" b="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6B2F7F32-55F7-401A-8DC2-38649ADD5E42}"/>
              </a:ext>
            </a:extLst>
          </p:cNvPr>
          <p:cNvSpPr>
            <a:spLocks noGrp="1"/>
          </p:cNvSpPr>
          <p:nvPr/>
        </p:nvSpPr>
        <p:spPr>
          <a:xfrm>
            <a:off x="3238500" y="233362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42B78E8-9DDA-4681-BD61-5969763429DF}"/>
              </a:ext>
            </a:extLst>
          </p:cNvPr>
          <p:cNvSpPr>
            <a:spLocks noGrp="1"/>
          </p:cNvSpPr>
          <p:nvPr/>
        </p:nvSpPr>
        <p:spPr>
          <a:xfrm>
            <a:off x="4171950" y="2162175"/>
            <a:ext cx="342900" cy="3429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F356179-A378-4E15-88A7-EC611EE55319}"/>
              </a:ext>
            </a:extLst>
          </p:cNvPr>
          <p:cNvSpPr>
            <a:spLocks noGrp="1"/>
          </p:cNvSpPr>
          <p:nvPr/>
        </p:nvSpPr>
        <p:spPr>
          <a:xfrm>
            <a:off x="4171950" y="224790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BE185F0-2ADB-4A2E-AA6F-6DC8EB8C90C8}"/>
              </a:ext>
            </a:extLst>
          </p:cNvPr>
          <p:cNvSpPr>
            <a:spLocks noGrp="1"/>
          </p:cNvSpPr>
          <p:nvPr/>
        </p:nvSpPr>
        <p:spPr>
          <a:xfrm>
            <a:off x="4762500" y="204787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Como mede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EF7B2B-1A54-4A01-88B4-1C75C6021A5D}"/>
              </a:ext>
            </a:extLst>
          </p:cNvPr>
          <p:cNvSpPr>
            <a:spLocks noGrp="1"/>
          </p:cNvSpPr>
          <p:nvPr/>
        </p:nvSpPr>
        <p:spPr>
          <a:xfrm>
            <a:off x="4762500" y="237172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A variação de resistência ou capacitância do elemento sensor é convertida em tensão ou valor digital.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C49D63B4-FEB1-4FDE-A923-04E457E36C76}"/>
              </a:ext>
            </a:extLst>
          </p:cNvPr>
          <p:cNvSpPr>
            <a:spLocks noGrp="1"/>
          </p:cNvSpPr>
          <p:nvPr/>
        </p:nvSpPr>
        <p:spPr>
          <a:xfrm>
            <a:off x="3238500" y="3524250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8AE331A-D33C-4DD8-A70F-D7DDAB90B238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342900" cy="342900"/>
          </a:xfrm>
          <a:prstGeom prst="ellipse">
            <a:avLst/>
          </a:prstGeom>
          <a:solidFill>
            <a:srgbClr val="65E2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C1E81E0-456D-4BEA-8252-8E8E59F98B29}"/>
              </a:ext>
            </a:extLst>
          </p:cNvPr>
          <p:cNvSpPr>
            <a:spLocks noGrp="1"/>
          </p:cNvSpPr>
          <p:nvPr/>
        </p:nvSpPr>
        <p:spPr>
          <a:xfrm>
            <a:off x="4171950" y="3438525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CE8EE02-3904-4C5B-899B-1F3B82F5F7D1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Como faz a leitura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F5F9C6B-87D2-4251-8918-7B6D679B8E62}"/>
              </a:ext>
            </a:extLst>
          </p:cNvPr>
          <p:cNvSpPr>
            <a:spLocks noGrp="1"/>
          </p:cNvSpPr>
          <p:nvPr/>
        </p:nvSpPr>
        <p:spPr>
          <a:xfrm>
            <a:off x="4762500" y="3562350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O ESP32 coleta amostras, aplica uma curva de calibração e converte o sinal para percentual ou faixa.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FD022A22-E72A-42D2-B1E0-8890EDC25153}"/>
              </a:ext>
            </a:extLst>
          </p:cNvPr>
          <p:cNvSpPr>
            <a:spLocks noGrp="1"/>
          </p:cNvSpPr>
          <p:nvPr/>
        </p:nvSpPr>
        <p:spPr>
          <a:xfrm>
            <a:off x="3238500" y="471487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70F5021-E6B1-4B87-8820-9CE2C898A7FD}"/>
              </a:ext>
            </a:extLst>
          </p:cNvPr>
          <p:cNvSpPr>
            <a:spLocks noGrp="1"/>
          </p:cNvSpPr>
          <p:nvPr/>
        </p:nvSpPr>
        <p:spPr>
          <a:xfrm>
            <a:off x="4171950" y="4543425"/>
            <a:ext cx="342900" cy="342900"/>
          </a:xfrm>
          <a:prstGeom prst="ellipse">
            <a:avLst/>
          </a:prstGeom>
          <a:solidFill>
            <a:srgbClr val="FFB65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6B408BF-C450-4F93-8C30-6AC538C6FD83}"/>
              </a:ext>
            </a:extLst>
          </p:cNvPr>
          <p:cNvSpPr>
            <a:spLocks noGrp="1"/>
          </p:cNvSpPr>
          <p:nvPr/>
        </p:nvSpPr>
        <p:spPr>
          <a:xfrm>
            <a:off x="4171950" y="462915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A2A2A16-339C-4288-902C-2F4D68F1B2A1}"/>
              </a:ext>
            </a:extLst>
          </p:cNvPr>
          <p:cNvSpPr>
            <a:spLocks noGrp="1"/>
          </p:cNvSpPr>
          <p:nvPr/>
        </p:nvSpPr>
        <p:spPr>
          <a:xfrm>
            <a:off x="4762500" y="442912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Cuidados na instalação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4308688-1C78-48D2-8762-159CA02BD209}"/>
              </a:ext>
            </a:extLst>
          </p:cNvPr>
          <p:cNvSpPr>
            <a:spLocks noGrp="1"/>
          </p:cNvSpPr>
          <p:nvPr/>
        </p:nvSpPr>
        <p:spPr>
          <a:xfrm>
            <a:off x="4762500" y="475297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Posicionamento, ventilação e proteção contra condensação reduzem leituras distorcidas e corrosão.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0B82DB9-FBD2-4D15-A785-20A553626A65}"/>
              </a:ext>
            </a:extLst>
          </p:cNvPr>
          <p:cNvSpPr/>
          <p:nvPr/>
        </p:nvSpPr>
        <p:spPr>
          <a:xfrm>
            <a:off x="914400" y="1993900"/>
            <a:ext cx="2324100" cy="28575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2D7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endParaRPr lang="pt-BR" sz="1200" b="1" dirty="0">
              <a:solidFill>
                <a:srgbClr val="AFC2D6"/>
              </a:solidFill>
              <a:latin typeface="Aptos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F9CB75DA-4B30-EC4B-9CC7-15D4CC22B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244931">
            <a:off x="1079500" y="2717800"/>
            <a:ext cx="19812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51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D17A5101-BD28-45D1-9AAE-03D956888E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6B28A11-8665-4C73-BD74-EE32DAFEECD5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BEC8593-541F-4FCC-8823-C0FA20453086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B069664-F36D-4A41-893B-F47D2A6E5C1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24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Sensor LDR 5 mm</a:t>
            </a:r>
            <a:endParaRPr sz="240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2315D6C-12F5-4026-8D70-497AF56922BC}"/>
              </a:ext>
            </a:extLst>
          </p:cNvPr>
          <p:cNvSpPr>
            <a:spLocks noGrp="1"/>
          </p:cNvSpPr>
          <p:nvPr/>
        </p:nvSpPr>
        <p:spPr>
          <a:xfrm>
            <a:off x="685800" y="923925"/>
            <a:ext cx="6137787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6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Mede variações de luminosidade por meio da mudança de resistência elétrica provocada pela luz incidente</a:t>
            </a:r>
            <a:r>
              <a:rPr lang="pt-BR" sz="12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.</a:t>
            </a:r>
            <a:endParaRPr sz="1200" b="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6B2F7F32-55F7-401A-8DC2-38649ADD5E42}"/>
              </a:ext>
            </a:extLst>
          </p:cNvPr>
          <p:cNvSpPr>
            <a:spLocks noGrp="1"/>
          </p:cNvSpPr>
          <p:nvPr/>
        </p:nvSpPr>
        <p:spPr>
          <a:xfrm>
            <a:off x="3238500" y="233362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42B78E8-9DDA-4681-BD61-5969763429DF}"/>
              </a:ext>
            </a:extLst>
          </p:cNvPr>
          <p:cNvSpPr>
            <a:spLocks noGrp="1"/>
          </p:cNvSpPr>
          <p:nvPr/>
        </p:nvSpPr>
        <p:spPr>
          <a:xfrm>
            <a:off x="4171950" y="2162175"/>
            <a:ext cx="342900" cy="3429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F356179-A378-4E15-88A7-EC611EE55319}"/>
              </a:ext>
            </a:extLst>
          </p:cNvPr>
          <p:cNvSpPr>
            <a:spLocks noGrp="1"/>
          </p:cNvSpPr>
          <p:nvPr/>
        </p:nvSpPr>
        <p:spPr>
          <a:xfrm>
            <a:off x="4171950" y="224790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BE185F0-2ADB-4A2E-AA6F-6DC8EB8C90C8}"/>
              </a:ext>
            </a:extLst>
          </p:cNvPr>
          <p:cNvSpPr>
            <a:spLocks noGrp="1"/>
          </p:cNvSpPr>
          <p:nvPr/>
        </p:nvSpPr>
        <p:spPr>
          <a:xfrm>
            <a:off x="4762500" y="204787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Transformar luz em sinal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EF7B2B-1A54-4A01-88B4-1C75C6021A5D}"/>
              </a:ext>
            </a:extLst>
          </p:cNvPr>
          <p:cNvSpPr>
            <a:spLocks noGrp="1"/>
          </p:cNvSpPr>
          <p:nvPr/>
        </p:nvSpPr>
        <p:spPr>
          <a:xfrm>
            <a:off x="4762500" y="237172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O LDR trabalha com um resistor fixo para gerar uma tensão proporcional à intensidade luminosa recebida.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C49D63B4-FEB1-4FDE-A923-04E457E36C76}"/>
              </a:ext>
            </a:extLst>
          </p:cNvPr>
          <p:cNvSpPr>
            <a:spLocks noGrp="1"/>
          </p:cNvSpPr>
          <p:nvPr/>
        </p:nvSpPr>
        <p:spPr>
          <a:xfrm>
            <a:off x="3238500" y="3524250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8AE331A-D33C-4DD8-A70F-D7DDAB90B238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342900" cy="342900"/>
          </a:xfrm>
          <a:prstGeom prst="ellipse">
            <a:avLst/>
          </a:prstGeom>
          <a:solidFill>
            <a:srgbClr val="65E2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C1E81E0-456D-4BEA-8252-8E8E59F98B29}"/>
              </a:ext>
            </a:extLst>
          </p:cNvPr>
          <p:cNvSpPr>
            <a:spLocks noGrp="1"/>
          </p:cNvSpPr>
          <p:nvPr/>
        </p:nvSpPr>
        <p:spPr>
          <a:xfrm>
            <a:off x="4171950" y="3438525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CE8EE02-3904-4C5B-899B-1F3B82F5F7D1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Comparar claro e escuro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F5F9C6B-87D2-4251-8918-7B6D679B8E62}"/>
              </a:ext>
            </a:extLst>
          </p:cNvPr>
          <p:cNvSpPr>
            <a:spLocks noGrp="1"/>
          </p:cNvSpPr>
          <p:nvPr/>
        </p:nvSpPr>
        <p:spPr>
          <a:xfrm>
            <a:off x="4762500" y="3562350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O conversor analógico do ESP32 registra o sinal; valores de claro e escuro definem faixas de comparação.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FD022A22-E72A-42D2-B1E0-8890EDC25153}"/>
              </a:ext>
            </a:extLst>
          </p:cNvPr>
          <p:cNvSpPr>
            <a:spLocks noGrp="1"/>
          </p:cNvSpPr>
          <p:nvPr/>
        </p:nvSpPr>
        <p:spPr>
          <a:xfrm>
            <a:off x="3238500" y="471487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70F5021-E6B1-4B87-8820-9CE2C898A7FD}"/>
              </a:ext>
            </a:extLst>
          </p:cNvPr>
          <p:cNvSpPr>
            <a:spLocks noGrp="1"/>
          </p:cNvSpPr>
          <p:nvPr/>
        </p:nvSpPr>
        <p:spPr>
          <a:xfrm>
            <a:off x="4171950" y="4543425"/>
            <a:ext cx="342900" cy="342900"/>
          </a:xfrm>
          <a:prstGeom prst="ellipse">
            <a:avLst/>
          </a:prstGeom>
          <a:solidFill>
            <a:srgbClr val="FFB65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6B408BF-C450-4F93-8C30-6AC538C6FD83}"/>
              </a:ext>
            </a:extLst>
          </p:cNvPr>
          <p:cNvSpPr>
            <a:spLocks noGrp="1"/>
          </p:cNvSpPr>
          <p:nvPr/>
        </p:nvSpPr>
        <p:spPr>
          <a:xfrm>
            <a:off x="4171950" y="462915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A2A2A16-339C-4288-902C-2F4D68F1B2A1}"/>
              </a:ext>
            </a:extLst>
          </p:cNvPr>
          <p:cNvSpPr>
            <a:spLocks noGrp="1"/>
          </p:cNvSpPr>
          <p:nvPr/>
        </p:nvSpPr>
        <p:spPr>
          <a:xfrm>
            <a:off x="4762500" y="442912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Usos e limitações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4308688-1C78-48D2-8762-159CA02BD209}"/>
              </a:ext>
            </a:extLst>
          </p:cNvPr>
          <p:cNvSpPr>
            <a:spLocks noGrp="1"/>
          </p:cNvSpPr>
          <p:nvPr/>
        </p:nvSpPr>
        <p:spPr>
          <a:xfrm>
            <a:off x="4762500" y="475297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É útil para tendências e alertas, mas não substitui um luxímetro quando é necessária medição absoluta precisa.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D932A43-9317-4595-A340-E178EF1AF7F8}"/>
              </a:ext>
            </a:extLst>
          </p:cNvPr>
          <p:cNvSpPr/>
          <p:nvPr/>
        </p:nvSpPr>
        <p:spPr>
          <a:xfrm>
            <a:off x="1000125" y="2085975"/>
            <a:ext cx="2324100" cy="28575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2D7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endParaRPr lang="pt-BR" sz="1200" b="1" dirty="0">
              <a:solidFill>
                <a:srgbClr val="AFC2D6"/>
              </a:solidFill>
              <a:latin typeface="Aptos"/>
            </a:endParaRP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61DB3CB0-0A2A-8CAF-4A44-A75F11D0F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578100"/>
            <a:ext cx="1981200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17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D17A5101-BD28-45D1-9AAE-03D956888E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6B28A11-8665-4C73-BD74-EE32DAFEECD5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BEC8593-541F-4FCC-8823-C0FA20453086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B069664-F36D-4A41-893B-F47D2A6E5C1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24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Sensor de temperatura e pressão BME280</a:t>
            </a:r>
            <a:endParaRPr sz="240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2315D6C-12F5-4026-8D70-497AF56922BC}"/>
              </a:ext>
            </a:extLst>
          </p:cNvPr>
          <p:cNvSpPr>
            <a:spLocks noGrp="1"/>
          </p:cNvSpPr>
          <p:nvPr/>
        </p:nvSpPr>
        <p:spPr>
          <a:xfrm>
            <a:off x="685800" y="923925"/>
            <a:ext cx="6137787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600" b="0">
                <a:solidFill>
                  <a:srgbClr val="AFC2D6"/>
                </a:solidFill>
                <a:latin typeface="Aptos"/>
                <a:ea typeface="Aptos"/>
                <a:cs typeface="Aptos"/>
              </a:rPr>
              <a:t>O BME280 mede temperatura e pressão atmosférica no mesmo módulo, enviando os dados digitais ao ESP32.</a:t>
            </a:r>
            <a:endParaRPr sz="1200" b="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6B2F7F32-55F7-401A-8DC2-38649ADD5E42}"/>
              </a:ext>
            </a:extLst>
          </p:cNvPr>
          <p:cNvSpPr>
            <a:spLocks noGrp="1"/>
          </p:cNvSpPr>
          <p:nvPr/>
        </p:nvSpPr>
        <p:spPr>
          <a:xfrm>
            <a:off x="3238500" y="233362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42B78E8-9DDA-4681-BD61-5969763429DF}"/>
              </a:ext>
            </a:extLst>
          </p:cNvPr>
          <p:cNvSpPr>
            <a:spLocks noGrp="1"/>
          </p:cNvSpPr>
          <p:nvPr/>
        </p:nvSpPr>
        <p:spPr>
          <a:xfrm>
            <a:off x="4171950" y="2162175"/>
            <a:ext cx="342900" cy="3429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F356179-A378-4E15-88A7-EC611EE55319}"/>
              </a:ext>
            </a:extLst>
          </p:cNvPr>
          <p:cNvSpPr>
            <a:spLocks noGrp="1"/>
          </p:cNvSpPr>
          <p:nvPr/>
        </p:nvSpPr>
        <p:spPr>
          <a:xfrm>
            <a:off x="4171950" y="224790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BE185F0-2ADB-4A2E-AA6F-6DC8EB8C90C8}"/>
              </a:ext>
            </a:extLst>
          </p:cNvPr>
          <p:cNvSpPr>
            <a:spLocks noGrp="1"/>
          </p:cNvSpPr>
          <p:nvPr/>
        </p:nvSpPr>
        <p:spPr>
          <a:xfrm>
            <a:off x="4762500" y="204787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Medições integradas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EF7B2B-1A54-4A01-88B4-1C75C6021A5D}"/>
              </a:ext>
            </a:extLst>
          </p:cNvPr>
          <p:cNvSpPr>
            <a:spLocks noGrp="1"/>
          </p:cNvSpPr>
          <p:nvPr/>
        </p:nvSpPr>
        <p:spPr>
          <a:xfrm>
            <a:off x="4762500" y="237172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O sensor registra temperatura e pressão com compensação interna, mantendo as leituras consistentes.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C49D63B4-FEB1-4FDE-A923-04E457E36C76}"/>
              </a:ext>
            </a:extLst>
          </p:cNvPr>
          <p:cNvSpPr>
            <a:spLocks noGrp="1"/>
          </p:cNvSpPr>
          <p:nvPr/>
        </p:nvSpPr>
        <p:spPr>
          <a:xfrm>
            <a:off x="3238500" y="3524250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8AE331A-D33C-4DD8-A70F-D7DDAB90B238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342900" cy="342900"/>
          </a:xfrm>
          <a:prstGeom prst="ellipse">
            <a:avLst/>
          </a:prstGeom>
          <a:solidFill>
            <a:srgbClr val="65E2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C1E81E0-456D-4BEA-8252-8E8E59F98B29}"/>
              </a:ext>
            </a:extLst>
          </p:cNvPr>
          <p:cNvSpPr>
            <a:spLocks noGrp="1"/>
          </p:cNvSpPr>
          <p:nvPr/>
        </p:nvSpPr>
        <p:spPr>
          <a:xfrm>
            <a:off x="4171950" y="3438525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CE8EE02-3904-4C5B-899B-1F3B82F5F7D1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Integração com ESP32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F5F9C6B-87D2-4251-8918-7B6D679B8E62}"/>
              </a:ext>
            </a:extLst>
          </p:cNvPr>
          <p:cNvSpPr>
            <a:spLocks noGrp="1"/>
          </p:cNvSpPr>
          <p:nvPr/>
        </p:nvSpPr>
        <p:spPr>
          <a:xfrm>
            <a:off x="4762500" y="3562350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Comunica-se por I²C ou SPI, reduzindo conexões e simplificando a coleta das variáveis ambientais.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FD022A22-E72A-42D2-B1E0-8890EDC25153}"/>
              </a:ext>
            </a:extLst>
          </p:cNvPr>
          <p:cNvSpPr>
            <a:spLocks noGrp="1"/>
          </p:cNvSpPr>
          <p:nvPr/>
        </p:nvSpPr>
        <p:spPr>
          <a:xfrm>
            <a:off x="3238500" y="4714875"/>
            <a:ext cx="904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70F5021-E6B1-4B87-8820-9CE2C898A7FD}"/>
              </a:ext>
            </a:extLst>
          </p:cNvPr>
          <p:cNvSpPr>
            <a:spLocks noGrp="1"/>
          </p:cNvSpPr>
          <p:nvPr/>
        </p:nvSpPr>
        <p:spPr>
          <a:xfrm>
            <a:off x="4171950" y="4543425"/>
            <a:ext cx="342900" cy="342900"/>
          </a:xfrm>
          <a:prstGeom prst="ellipse">
            <a:avLst/>
          </a:prstGeom>
          <a:solidFill>
            <a:srgbClr val="FFB65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6B408BF-C450-4F93-8C30-6AC538C6FD83}"/>
              </a:ext>
            </a:extLst>
          </p:cNvPr>
          <p:cNvSpPr>
            <a:spLocks noGrp="1"/>
          </p:cNvSpPr>
          <p:nvPr/>
        </p:nvSpPr>
        <p:spPr>
          <a:xfrm>
            <a:off x="4171950" y="4629150"/>
            <a:ext cx="3429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 lnSpcReduction="20000"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071B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A2A2A16-339C-4288-902C-2F4D68F1B2A1}"/>
              </a:ext>
            </a:extLst>
          </p:cNvPr>
          <p:cNvSpPr>
            <a:spLocks noGrp="1"/>
          </p:cNvSpPr>
          <p:nvPr/>
        </p:nvSpPr>
        <p:spPr>
          <a:xfrm>
            <a:off x="4762500" y="4429125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Cuidados na instalação</a:t>
            </a:r>
            <a:endParaRPr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4308688-1C78-48D2-8762-159CA02BD209}"/>
              </a:ext>
            </a:extLst>
          </p:cNvPr>
          <p:cNvSpPr>
            <a:spLocks noGrp="1"/>
          </p:cNvSpPr>
          <p:nvPr/>
        </p:nvSpPr>
        <p:spPr>
          <a:xfrm>
            <a:off x="4762500" y="4752975"/>
            <a:ext cx="4953000" cy="546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100">
                <a:solidFill>
                  <a:srgbClr val="AFC2D6"/>
                </a:solidFill>
                <a:latin typeface="Aptos"/>
                <a:ea typeface="Aptos"/>
                <a:cs typeface="Aptos"/>
              </a:rPr>
              <a:t>Manter o módulo ventilado, protegido de água direta e afastado de fontes de calor da placa.</a:t>
            </a:r>
            <a:endParaRPr sz="110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0B82DB9-FBD2-4D15-A785-20A553626A65}"/>
              </a:ext>
            </a:extLst>
          </p:cNvPr>
          <p:cNvSpPr/>
          <p:nvPr/>
        </p:nvSpPr>
        <p:spPr>
          <a:xfrm>
            <a:off x="914400" y="1993900"/>
            <a:ext cx="2324100" cy="28575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2D7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endParaRPr lang="pt-BR" sz="1200" b="1" dirty="0">
              <a:solidFill>
                <a:srgbClr val="AFC2D6"/>
              </a:solidFill>
              <a:latin typeface="Aptos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F47161A-B64C-A7AF-3101-BA4C7F1D5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42291">
            <a:off x="967851" y="2514228"/>
            <a:ext cx="2217196" cy="172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21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65A9F7AF-3B13-4118-998B-031EDDA056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47B34776-A295-4E8C-96D4-1DBF9F772715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6F832D3-E83B-45B0-A78E-A87D0CBA7A33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A3B1CCC-E480-473C-B053-8E652F689C8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endParaRPr sz="2400" b="1" dirty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71C914AA-D46A-32CC-E7EF-2AF873C6F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43" y="480570"/>
            <a:ext cx="7980713" cy="589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82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CF26E59F-59A7-494C-8F13-224EBB38F3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C38B73A2-7377-4A61-9F0C-AE958F98AC0F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C9983C3-4943-488E-84DF-4A4B0CBDB8EB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B423B3D-86AD-45CA-A9FC-CCE2D7622635}"/>
              </a:ext>
            </a:extLst>
          </p:cNvPr>
          <p:cNvSpPr>
            <a:spLocks noGrp="1"/>
          </p:cNvSpPr>
          <p:nvPr/>
        </p:nvSpPr>
        <p:spPr>
          <a:xfrm>
            <a:off x="728498" y="314325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2400" b="1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Arquitetura de hardware e software</a:t>
            </a:r>
            <a:endParaRPr sz="2400" b="1" dirty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81C9584-9A84-4554-942E-59BD312F2015}"/>
              </a:ext>
            </a:extLst>
          </p:cNvPr>
          <p:cNvSpPr>
            <a:spLocks noGrp="1"/>
          </p:cNvSpPr>
          <p:nvPr/>
        </p:nvSpPr>
        <p:spPr>
          <a:xfrm>
            <a:off x="685800" y="923925"/>
            <a:ext cx="8763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60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Camadas independentes facilitam testes, manutenção e evolução do sistema</a:t>
            </a:r>
            <a:r>
              <a:rPr sz="16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8DE5817-43A3-4E36-A14C-E0FFCCB02427}"/>
              </a:ext>
            </a:extLst>
          </p:cNvPr>
          <p:cNvSpPr>
            <a:spLocks noGrp="1"/>
          </p:cNvSpPr>
          <p:nvPr/>
        </p:nvSpPr>
        <p:spPr>
          <a:xfrm>
            <a:off x="1190625" y="1619250"/>
            <a:ext cx="9810750" cy="704850"/>
          </a:xfrm>
          <a:prstGeom prst="roundRect">
            <a:avLst>
              <a:gd name="adj" fmla="val 10811"/>
            </a:avLst>
          </a:prstGeom>
          <a:solidFill>
            <a:schemeClr val="tx2">
              <a:lumMod val="90000"/>
              <a:lumOff val="10000"/>
            </a:scheme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8A08957-0FF6-4CBA-B4AD-116D453CCA9E}"/>
              </a:ext>
            </a:extLst>
          </p:cNvPr>
          <p:cNvSpPr>
            <a:spLocks noGrp="1"/>
          </p:cNvSpPr>
          <p:nvPr/>
        </p:nvSpPr>
        <p:spPr>
          <a:xfrm>
            <a:off x="1476375" y="1838325"/>
            <a:ext cx="1905000" cy="2286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0">
            <a:solidFill>
              <a:schemeClr val="tx2">
                <a:lumMod val="90000"/>
                <a:lumOff val="10000"/>
              </a:schemeClr>
            </a:solidFill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32D7E8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32D7E8"/>
                </a:solidFill>
                <a:latin typeface="Aptos"/>
                <a:ea typeface="Aptos"/>
                <a:cs typeface="Aptos"/>
              </a:rPr>
              <a:t>CAMADA FÍSICA</a:t>
            </a:r>
          </a:p>
        </p:txBody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6A96C4C5-B80E-400A-851D-F5977F9AD18F}"/>
              </a:ext>
            </a:extLst>
          </p:cNvPr>
          <p:cNvSpPr>
            <a:spLocks noGrp="1"/>
          </p:cNvSpPr>
          <p:nvPr/>
        </p:nvSpPr>
        <p:spPr>
          <a:xfrm>
            <a:off x="3619500" y="1771650"/>
            <a:ext cx="0" cy="400050"/>
          </a:xfrm>
          <a:prstGeom prst="line">
            <a:avLst/>
          </a:prstGeom>
          <a:noFill/>
          <a:ln w="19050">
            <a:solidFill>
              <a:srgbClr val="3E7F99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7D0E8CC-1E7F-4815-922B-1C97AEF667D1}"/>
              </a:ext>
            </a:extLst>
          </p:cNvPr>
          <p:cNvSpPr>
            <a:spLocks noGrp="1"/>
          </p:cNvSpPr>
          <p:nvPr/>
        </p:nvSpPr>
        <p:spPr>
          <a:xfrm>
            <a:off x="3952875" y="1809750"/>
            <a:ext cx="6572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1350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Sensores de temperatura, umidade, pressão do ar e luminosidade.</a:t>
            </a:r>
            <a:endParaRPr sz="1350" b="0" dirty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AF068377-B27F-413D-B272-2EA08633B56E}"/>
              </a:ext>
            </a:extLst>
          </p:cNvPr>
          <p:cNvSpPr>
            <a:spLocks noGrp="1"/>
          </p:cNvSpPr>
          <p:nvPr/>
        </p:nvSpPr>
        <p:spPr>
          <a:xfrm>
            <a:off x="6096000" y="2324100"/>
            <a:ext cx="0" cy="247650"/>
          </a:xfrm>
          <a:prstGeom prst="line">
            <a:avLst/>
          </a:prstGeom>
          <a:noFill/>
          <a:ln w="19050">
            <a:solidFill>
              <a:srgbClr val="AFC2D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3977092-6BAB-4797-BF75-F9F986D8DF9A}"/>
              </a:ext>
            </a:extLst>
          </p:cNvPr>
          <p:cNvSpPr>
            <a:spLocks noGrp="1"/>
          </p:cNvSpPr>
          <p:nvPr/>
        </p:nvSpPr>
        <p:spPr>
          <a:xfrm>
            <a:off x="6029325" y="2457450"/>
            <a:ext cx="133350" cy="133350"/>
          </a:xfrm>
          <a:prstGeom prst="ellipse">
            <a:avLst/>
          </a:prstGeom>
          <a:solidFill>
            <a:srgbClr val="AFC2D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2751D75-F5CC-460F-9D7C-C880100955FC}"/>
              </a:ext>
            </a:extLst>
          </p:cNvPr>
          <p:cNvSpPr>
            <a:spLocks noGrp="1"/>
          </p:cNvSpPr>
          <p:nvPr/>
        </p:nvSpPr>
        <p:spPr>
          <a:xfrm>
            <a:off x="1190625" y="2571750"/>
            <a:ext cx="9810750" cy="704850"/>
          </a:xfrm>
          <a:prstGeom prst="roundRect">
            <a:avLst>
              <a:gd name="adj" fmla="val 10811"/>
            </a:avLst>
          </a:prstGeom>
          <a:solidFill>
            <a:schemeClr val="tx2">
              <a:lumMod val="90000"/>
              <a:lumOff val="10000"/>
            </a:scheme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28A33F1-75D1-4B5D-85CB-4D9B59E6A641}"/>
              </a:ext>
            </a:extLst>
          </p:cNvPr>
          <p:cNvSpPr>
            <a:spLocks noGrp="1"/>
          </p:cNvSpPr>
          <p:nvPr/>
        </p:nvSpPr>
        <p:spPr>
          <a:xfrm>
            <a:off x="1476375" y="2790825"/>
            <a:ext cx="1905000" cy="2286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0">
            <a:solidFill>
              <a:schemeClr val="tx2">
                <a:lumMod val="90000"/>
                <a:lumOff val="10000"/>
              </a:schemeClr>
            </a:solidFill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32D7E8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32D7E8"/>
                </a:solidFill>
                <a:latin typeface="Aptos"/>
                <a:ea typeface="Aptos"/>
                <a:cs typeface="Aptos"/>
              </a:rPr>
              <a:t>CAMADA EMBARCADA</a:t>
            </a: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1CA22371-64E1-4332-A4D9-10984884ADBA}"/>
              </a:ext>
            </a:extLst>
          </p:cNvPr>
          <p:cNvSpPr>
            <a:spLocks noGrp="1"/>
          </p:cNvSpPr>
          <p:nvPr/>
        </p:nvSpPr>
        <p:spPr>
          <a:xfrm>
            <a:off x="3619500" y="2724150"/>
            <a:ext cx="0" cy="400050"/>
          </a:xfrm>
          <a:prstGeom prst="line">
            <a:avLst/>
          </a:prstGeom>
          <a:noFill/>
          <a:ln w="19050">
            <a:solidFill>
              <a:srgbClr val="3E7F99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26E0964-A72E-42E1-9A62-99EB264F37FD}"/>
              </a:ext>
            </a:extLst>
          </p:cNvPr>
          <p:cNvSpPr>
            <a:spLocks noGrp="1"/>
          </p:cNvSpPr>
          <p:nvPr/>
        </p:nvSpPr>
        <p:spPr>
          <a:xfrm>
            <a:off x="3952875" y="2762250"/>
            <a:ext cx="6572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ESP32 lê sensores, valida dados e controla o envio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432BBA64-920A-4924-9BEA-D2A3BC95D384}"/>
              </a:ext>
            </a:extLst>
          </p:cNvPr>
          <p:cNvSpPr>
            <a:spLocks noGrp="1"/>
          </p:cNvSpPr>
          <p:nvPr/>
        </p:nvSpPr>
        <p:spPr>
          <a:xfrm>
            <a:off x="6096000" y="3276600"/>
            <a:ext cx="0" cy="247650"/>
          </a:xfrm>
          <a:prstGeom prst="line">
            <a:avLst/>
          </a:prstGeom>
          <a:noFill/>
          <a:ln w="19050">
            <a:solidFill>
              <a:srgbClr val="AFC2D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815A305-924F-437A-8753-29C556DD75E8}"/>
              </a:ext>
            </a:extLst>
          </p:cNvPr>
          <p:cNvSpPr>
            <a:spLocks noGrp="1"/>
          </p:cNvSpPr>
          <p:nvPr/>
        </p:nvSpPr>
        <p:spPr>
          <a:xfrm>
            <a:off x="6029325" y="3409950"/>
            <a:ext cx="133350" cy="133350"/>
          </a:xfrm>
          <a:prstGeom prst="ellipse">
            <a:avLst/>
          </a:prstGeom>
          <a:solidFill>
            <a:srgbClr val="AFC2D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F9950CE-595F-47B1-8BC8-558C9558C17C}"/>
              </a:ext>
            </a:extLst>
          </p:cNvPr>
          <p:cNvSpPr>
            <a:spLocks noGrp="1"/>
          </p:cNvSpPr>
          <p:nvPr/>
        </p:nvSpPr>
        <p:spPr>
          <a:xfrm>
            <a:off x="1190625" y="3524250"/>
            <a:ext cx="9810750" cy="704850"/>
          </a:xfrm>
          <a:prstGeom prst="roundRect">
            <a:avLst>
              <a:gd name="adj" fmla="val 10811"/>
            </a:avLst>
          </a:prstGeom>
          <a:solidFill>
            <a:schemeClr val="tx2">
              <a:lumMod val="90000"/>
              <a:lumOff val="10000"/>
            </a:scheme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AFF9ADD-7332-4012-9F11-A4B41BE18A3D}"/>
              </a:ext>
            </a:extLst>
          </p:cNvPr>
          <p:cNvSpPr>
            <a:spLocks noGrp="1"/>
          </p:cNvSpPr>
          <p:nvPr/>
        </p:nvSpPr>
        <p:spPr>
          <a:xfrm>
            <a:off x="1476375" y="3743325"/>
            <a:ext cx="1905000" cy="2286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0">
            <a:solidFill>
              <a:schemeClr val="tx2">
                <a:lumMod val="90000"/>
                <a:lumOff val="10000"/>
              </a:schemeClr>
            </a:solidFill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32D7E8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32D7E8"/>
                </a:solidFill>
                <a:latin typeface="Aptos"/>
                <a:ea typeface="Aptos"/>
                <a:cs typeface="Aptos"/>
              </a:rPr>
              <a:t>CAMADA DE DADOS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299A33A5-94B8-4FA5-A0A5-7F67AD488433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0" cy="400050"/>
          </a:xfrm>
          <a:prstGeom prst="line">
            <a:avLst/>
          </a:prstGeom>
          <a:noFill/>
          <a:ln w="19050">
            <a:solidFill>
              <a:srgbClr val="3E7F99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8D9719C-29F7-4C25-973B-285C42DDC88A}"/>
              </a:ext>
            </a:extLst>
          </p:cNvPr>
          <p:cNvSpPr>
            <a:spLocks noGrp="1"/>
          </p:cNvSpPr>
          <p:nvPr/>
        </p:nvSpPr>
        <p:spPr>
          <a:xfrm>
            <a:off x="3952875" y="3714750"/>
            <a:ext cx="6572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API recebe leituras e persiste séries históricas</a:t>
            </a:r>
          </a:p>
        </p:txBody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2E55ACFC-DE5F-4A50-83EE-5E2AB37EA021}"/>
              </a:ext>
            </a:extLst>
          </p:cNvPr>
          <p:cNvSpPr>
            <a:spLocks noGrp="1"/>
          </p:cNvSpPr>
          <p:nvPr/>
        </p:nvSpPr>
        <p:spPr>
          <a:xfrm>
            <a:off x="6096000" y="4229100"/>
            <a:ext cx="0" cy="247650"/>
          </a:xfrm>
          <a:prstGeom prst="line">
            <a:avLst/>
          </a:prstGeom>
          <a:noFill/>
          <a:ln w="19050">
            <a:solidFill>
              <a:srgbClr val="AFC2D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FCF6D6F7-556A-400B-BD4C-95ACCFC820F8}"/>
              </a:ext>
            </a:extLst>
          </p:cNvPr>
          <p:cNvSpPr>
            <a:spLocks noGrp="1"/>
          </p:cNvSpPr>
          <p:nvPr/>
        </p:nvSpPr>
        <p:spPr>
          <a:xfrm>
            <a:off x="6029325" y="4362450"/>
            <a:ext cx="133350" cy="133350"/>
          </a:xfrm>
          <a:prstGeom prst="ellipse">
            <a:avLst/>
          </a:prstGeom>
          <a:solidFill>
            <a:srgbClr val="AFC2D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7C5087F-8B5D-4AB9-A16F-89618F3F4DD7}"/>
              </a:ext>
            </a:extLst>
          </p:cNvPr>
          <p:cNvSpPr>
            <a:spLocks noGrp="1"/>
          </p:cNvSpPr>
          <p:nvPr/>
        </p:nvSpPr>
        <p:spPr>
          <a:xfrm>
            <a:off x="1190625" y="4476750"/>
            <a:ext cx="9810750" cy="704850"/>
          </a:xfrm>
          <a:prstGeom prst="roundRect">
            <a:avLst>
              <a:gd name="adj" fmla="val 10811"/>
            </a:avLst>
          </a:prstGeom>
          <a:solidFill>
            <a:schemeClr val="tx2">
              <a:lumMod val="90000"/>
              <a:lumOff val="10000"/>
            </a:scheme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63A7DE1-2BAE-43BC-9F6D-96CC41360FD9}"/>
              </a:ext>
            </a:extLst>
          </p:cNvPr>
          <p:cNvSpPr>
            <a:spLocks noGrp="1"/>
          </p:cNvSpPr>
          <p:nvPr/>
        </p:nvSpPr>
        <p:spPr>
          <a:xfrm>
            <a:off x="1476375" y="4695825"/>
            <a:ext cx="1905000" cy="2286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0">
            <a:solidFill>
              <a:schemeClr val="tx2">
                <a:lumMod val="90000"/>
                <a:lumOff val="10000"/>
              </a:schemeClr>
            </a:solidFill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32D7E8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32D7E8"/>
                </a:solidFill>
                <a:latin typeface="Aptos"/>
                <a:ea typeface="Aptos"/>
                <a:cs typeface="Aptos"/>
              </a:rPr>
              <a:t>CAMADA DE ACESSO</a:t>
            </a:r>
          </a:p>
        </p:txBody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9EB46878-5D29-4F5F-8FEF-DFE38187EF8C}"/>
              </a:ext>
            </a:extLst>
          </p:cNvPr>
          <p:cNvSpPr>
            <a:spLocks noGrp="1"/>
          </p:cNvSpPr>
          <p:nvPr/>
        </p:nvSpPr>
        <p:spPr>
          <a:xfrm>
            <a:off x="3619500" y="4629150"/>
            <a:ext cx="0" cy="400050"/>
          </a:xfrm>
          <a:prstGeom prst="line">
            <a:avLst/>
          </a:prstGeom>
          <a:noFill/>
          <a:ln w="19050">
            <a:solidFill>
              <a:srgbClr val="3E7F99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9BF88E2-94E2-43AB-9307-F5B559912EE5}"/>
              </a:ext>
            </a:extLst>
          </p:cNvPr>
          <p:cNvSpPr>
            <a:spLocks noGrp="1"/>
          </p:cNvSpPr>
          <p:nvPr/>
        </p:nvSpPr>
        <p:spPr>
          <a:xfrm>
            <a:off x="3952875" y="4667250"/>
            <a:ext cx="6572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Dashboard web apresenta indicadores e dados públicos</a:t>
            </a:r>
          </a:p>
        </p:txBody>
      </p:sp>
    </p:spTree>
    <p:extLst>
      <p:ext uri="{BB962C8B-B14F-4D97-AF65-F5344CB8AC3E}">
        <p14:creationId xmlns:p14="http://schemas.microsoft.com/office/powerpoint/2010/main" val="515849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65A9F7AF-3B13-4118-998B-031EDDA056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47B34776-A295-4E8C-96D4-1DBF9F772715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6F832D3-E83B-45B0-A78E-A87D0CBA7A33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A3B1CCC-E480-473C-B053-8E652F689C8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Fluxo de funcionamento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A0113D9-FE72-40EA-A19C-C4DF9702BBA8}"/>
              </a:ext>
            </a:extLst>
          </p:cNvPr>
          <p:cNvSpPr>
            <a:spLocks noGrp="1"/>
          </p:cNvSpPr>
          <p:nvPr/>
        </p:nvSpPr>
        <p:spPr>
          <a:xfrm>
            <a:off x="685800" y="923925"/>
            <a:ext cx="8763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60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Ciclo de aquisição e publicação de dados em intervalos configuráveis.</a:t>
            </a:r>
            <a:endParaRPr sz="1600" b="0" dirty="0">
              <a:solidFill>
                <a:srgbClr val="AFC2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E7472AD-EBF5-4E9E-AAC0-DFDFFAE052A4}"/>
              </a:ext>
            </a:extLst>
          </p:cNvPr>
          <p:cNvSpPr>
            <a:spLocks noGrp="1"/>
          </p:cNvSpPr>
          <p:nvPr/>
        </p:nvSpPr>
        <p:spPr>
          <a:xfrm>
            <a:off x="695325" y="2609850"/>
            <a:ext cx="685800" cy="6858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D64C759-E48B-42A5-AEE8-C75EFC557110}"/>
              </a:ext>
            </a:extLst>
          </p:cNvPr>
          <p:cNvSpPr>
            <a:spLocks noGrp="1"/>
          </p:cNvSpPr>
          <p:nvPr/>
        </p:nvSpPr>
        <p:spPr>
          <a:xfrm>
            <a:off x="853440" y="2857500"/>
            <a:ext cx="384048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071B3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8976FD8-2059-41D9-9FB7-B52E50BAFB41}"/>
              </a:ext>
            </a:extLst>
          </p:cNvPr>
          <p:cNvSpPr>
            <a:spLocks noGrp="1"/>
          </p:cNvSpPr>
          <p:nvPr/>
        </p:nvSpPr>
        <p:spPr>
          <a:xfrm>
            <a:off x="514350" y="3571875"/>
            <a:ext cx="1047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20000"/>
          </a:bodyPr>
          <a:lstStyle/>
          <a:p>
            <a:pPr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Ler sensores</a:t>
            </a: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0D7E3B4D-15B8-4DEC-BC99-557DE4E2E41F}"/>
              </a:ext>
            </a:extLst>
          </p:cNvPr>
          <p:cNvSpPr>
            <a:spLocks noGrp="1"/>
          </p:cNvSpPr>
          <p:nvPr/>
        </p:nvSpPr>
        <p:spPr>
          <a:xfrm>
            <a:off x="1400175" y="2962275"/>
            <a:ext cx="1285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521AEBA-787E-47D9-A5FA-0854EC774A79}"/>
              </a:ext>
            </a:extLst>
          </p:cNvPr>
          <p:cNvSpPr>
            <a:spLocks noGrp="1"/>
          </p:cNvSpPr>
          <p:nvPr/>
        </p:nvSpPr>
        <p:spPr>
          <a:xfrm>
            <a:off x="2552700" y="2886075"/>
            <a:ext cx="152400" cy="152400"/>
          </a:xfrm>
          <a:prstGeom prst="ellipse">
            <a:avLst/>
          </a:prstGeom>
          <a:solidFill>
            <a:srgbClr val="244361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14281A0-E844-4717-9A23-2146D7891EB9}"/>
              </a:ext>
            </a:extLst>
          </p:cNvPr>
          <p:cNvSpPr>
            <a:spLocks noGrp="1"/>
          </p:cNvSpPr>
          <p:nvPr/>
        </p:nvSpPr>
        <p:spPr>
          <a:xfrm>
            <a:off x="2809875" y="2619375"/>
            <a:ext cx="685800" cy="685800"/>
          </a:xfrm>
          <a:prstGeom prst="ellipse">
            <a:avLst/>
          </a:prstGeom>
          <a:solidFill>
            <a:srgbClr val="65E2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1956529-0604-4CA6-A04F-BF8D4D380151}"/>
              </a:ext>
            </a:extLst>
          </p:cNvPr>
          <p:cNvSpPr>
            <a:spLocks noGrp="1"/>
          </p:cNvSpPr>
          <p:nvPr/>
        </p:nvSpPr>
        <p:spPr>
          <a:xfrm>
            <a:off x="2962655" y="2857500"/>
            <a:ext cx="533019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071B3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1114919-0130-46E5-968E-663FE41C695F}"/>
              </a:ext>
            </a:extLst>
          </p:cNvPr>
          <p:cNvSpPr>
            <a:spLocks noGrp="1"/>
          </p:cNvSpPr>
          <p:nvPr/>
        </p:nvSpPr>
        <p:spPr>
          <a:xfrm>
            <a:off x="2638425" y="3571875"/>
            <a:ext cx="1047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868" lnSpcReduction="20000"/>
          </a:bodyPr>
          <a:lstStyle/>
          <a:p>
            <a:pPr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Validar leitura</a:t>
            </a: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31783779-FC94-47C0-B9B0-C793AD48514C}"/>
              </a:ext>
            </a:extLst>
          </p:cNvPr>
          <p:cNvSpPr>
            <a:spLocks noGrp="1"/>
          </p:cNvSpPr>
          <p:nvPr/>
        </p:nvSpPr>
        <p:spPr>
          <a:xfrm>
            <a:off x="3524250" y="2962275"/>
            <a:ext cx="1285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48A558B-5666-45A3-87CD-4722C18003E4}"/>
              </a:ext>
            </a:extLst>
          </p:cNvPr>
          <p:cNvSpPr>
            <a:spLocks noGrp="1"/>
          </p:cNvSpPr>
          <p:nvPr/>
        </p:nvSpPr>
        <p:spPr>
          <a:xfrm>
            <a:off x="4676775" y="2886075"/>
            <a:ext cx="152400" cy="152400"/>
          </a:xfrm>
          <a:prstGeom prst="ellipse">
            <a:avLst/>
          </a:prstGeom>
          <a:solidFill>
            <a:srgbClr val="244361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E2FF057-FDB2-4E44-9040-7DE9FA72161F}"/>
              </a:ext>
            </a:extLst>
          </p:cNvPr>
          <p:cNvSpPr>
            <a:spLocks noGrp="1"/>
          </p:cNvSpPr>
          <p:nvPr/>
        </p:nvSpPr>
        <p:spPr>
          <a:xfrm>
            <a:off x="4933950" y="2619375"/>
            <a:ext cx="685800" cy="685800"/>
          </a:xfrm>
          <a:prstGeom prst="ellipse">
            <a:avLst/>
          </a:prstGeom>
          <a:solidFill>
            <a:srgbClr val="FFB65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18FDF1E-B79B-4815-BE3C-8632BA3E8DF5}"/>
              </a:ext>
            </a:extLst>
          </p:cNvPr>
          <p:cNvSpPr>
            <a:spLocks noGrp="1"/>
          </p:cNvSpPr>
          <p:nvPr/>
        </p:nvSpPr>
        <p:spPr>
          <a:xfrm>
            <a:off x="5097780" y="2857500"/>
            <a:ext cx="52197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071B3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11E8B18-AA39-450F-841C-CF26DAEFD132}"/>
              </a:ext>
            </a:extLst>
          </p:cNvPr>
          <p:cNvSpPr>
            <a:spLocks noGrp="1"/>
          </p:cNvSpPr>
          <p:nvPr/>
        </p:nvSpPr>
        <p:spPr>
          <a:xfrm>
            <a:off x="4762500" y="3571875"/>
            <a:ext cx="1047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814" lnSpcReduction="20000"/>
          </a:bodyPr>
          <a:lstStyle/>
          <a:p>
            <a:pPr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Enviar pela rede</a:t>
            </a:r>
          </a:p>
        </p:txBody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33A9D7EE-E73A-4966-9EBF-5C83E9FBE81B}"/>
              </a:ext>
            </a:extLst>
          </p:cNvPr>
          <p:cNvSpPr>
            <a:spLocks noGrp="1"/>
          </p:cNvSpPr>
          <p:nvPr/>
        </p:nvSpPr>
        <p:spPr>
          <a:xfrm>
            <a:off x="5648325" y="2962275"/>
            <a:ext cx="1285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5EB495A-404F-46C4-93A2-6DC90C124EB6}"/>
              </a:ext>
            </a:extLst>
          </p:cNvPr>
          <p:cNvSpPr>
            <a:spLocks noGrp="1"/>
          </p:cNvSpPr>
          <p:nvPr/>
        </p:nvSpPr>
        <p:spPr>
          <a:xfrm>
            <a:off x="6800850" y="2886075"/>
            <a:ext cx="152400" cy="152400"/>
          </a:xfrm>
          <a:prstGeom prst="ellipse">
            <a:avLst/>
          </a:prstGeom>
          <a:solidFill>
            <a:srgbClr val="244361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B014B75-B4A5-4BED-9CE8-DEEFF23591A2}"/>
              </a:ext>
            </a:extLst>
          </p:cNvPr>
          <p:cNvSpPr>
            <a:spLocks noGrp="1"/>
          </p:cNvSpPr>
          <p:nvPr/>
        </p:nvSpPr>
        <p:spPr>
          <a:xfrm>
            <a:off x="7058025" y="2619375"/>
            <a:ext cx="685800" cy="685800"/>
          </a:xfrm>
          <a:prstGeom prst="ellipse">
            <a:avLst/>
          </a:prstGeom>
          <a:solidFill>
            <a:srgbClr val="1E83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3F60F18-D7C8-489D-B8CE-9222622A92F8}"/>
              </a:ext>
            </a:extLst>
          </p:cNvPr>
          <p:cNvSpPr>
            <a:spLocks noGrp="1"/>
          </p:cNvSpPr>
          <p:nvPr/>
        </p:nvSpPr>
        <p:spPr>
          <a:xfrm>
            <a:off x="7211059" y="2857500"/>
            <a:ext cx="53276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071B3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277CB3E-49D7-479C-AE30-3354559B284A}"/>
              </a:ext>
            </a:extLst>
          </p:cNvPr>
          <p:cNvSpPr>
            <a:spLocks noGrp="1"/>
          </p:cNvSpPr>
          <p:nvPr/>
        </p:nvSpPr>
        <p:spPr>
          <a:xfrm>
            <a:off x="6886575" y="3571875"/>
            <a:ext cx="1047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814" lnSpcReduction="20000"/>
          </a:bodyPr>
          <a:lstStyle/>
          <a:p>
            <a:pPr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Armazenar dados</a:t>
            </a:r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1E28CF26-78E1-47D0-83C9-7F404C2F141C}"/>
              </a:ext>
            </a:extLst>
          </p:cNvPr>
          <p:cNvSpPr>
            <a:spLocks noGrp="1"/>
          </p:cNvSpPr>
          <p:nvPr/>
        </p:nvSpPr>
        <p:spPr>
          <a:xfrm>
            <a:off x="7772400" y="2962275"/>
            <a:ext cx="1285875" cy="0"/>
          </a:xfrm>
          <a:prstGeom prst="line">
            <a:avLst/>
          </a:prstGeom>
          <a:noFill/>
          <a:ln w="28575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6DA71BE-6739-4514-BDC0-EC74974FE30B}"/>
              </a:ext>
            </a:extLst>
          </p:cNvPr>
          <p:cNvSpPr>
            <a:spLocks noGrp="1"/>
          </p:cNvSpPr>
          <p:nvPr/>
        </p:nvSpPr>
        <p:spPr>
          <a:xfrm>
            <a:off x="8924925" y="2886075"/>
            <a:ext cx="152400" cy="152400"/>
          </a:xfrm>
          <a:prstGeom prst="ellipse">
            <a:avLst/>
          </a:prstGeom>
          <a:solidFill>
            <a:srgbClr val="244361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C7AD56B-2F44-4D07-86E4-96A11BFD423E}"/>
              </a:ext>
            </a:extLst>
          </p:cNvPr>
          <p:cNvSpPr>
            <a:spLocks noGrp="1"/>
          </p:cNvSpPr>
          <p:nvPr/>
        </p:nvSpPr>
        <p:spPr>
          <a:xfrm>
            <a:off x="9182100" y="2619375"/>
            <a:ext cx="685800" cy="68580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CAC57B3-7A3A-4962-AE66-3097AD598926}"/>
              </a:ext>
            </a:extLst>
          </p:cNvPr>
          <p:cNvSpPr>
            <a:spLocks noGrp="1"/>
          </p:cNvSpPr>
          <p:nvPr/>
        </p:nvSpPr>
        <p:spPr>
          <a:xfrm>
            <a:off x="9334500" y="28575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071B3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03E6275-AD39-427E-A2AC-08EB529CDD9B}"/>
              </a:ext>
            </a:extLst>
          </p:cNvPr>
          <p:cNvSpPr>
            <a:spLocks noGrp="1"/>
          </p:cNvSpPr>
          <p:nvPr/>
        </p:nvSpPr>
        <p:spPr>
          <a:xfrm>
            <a:off x="9010650" y="3571875"/>
            <a:ext cx="1047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814" lnSpcReduction="20000"/>
          </a:bodyPr>
          <a:lstStyle/>
          <a:p>
            <a:pPr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Atualizar dashboard</a:t>
            </a:r>
          </a:p>
        </p:txBody>
      </p:sp>
    </p:spTree>
    <p:extLst>
      <p:ext uri="{BB962C8B-B14F-4D97-AF65-F5344CB8AC3E}">
        <p14:creationId xmlns:p14="http://schemas.microsoft.com/office/powerpoint/2010/main" val="2308864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CB77F898-C19C-4279-A174-D1F1276856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8F439988-D140-46C9-A679-8BDB26BDE42F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1905000" cy="1905000"/>
          </a:xfrm>
          <a:prstGeom prst="ellipse">
            <a:avLst/>
          </a:prstGeom>
          <a:solidFill>
            <a:srgbClr val="103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E1FFC37-6624-4954-950D-3E44E10F3B83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1333500" cy="1333500"/>
          </a:xfrm>
          <a:prstGeom prst="ellipse">
            <a:avLst/>
          </a:prstGeom>
          <a:solidFill>
            <a:srgbClr val="16497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9AF5C9B-729D-404A-BF35-AFB92D85F27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Conclusão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C39D1BE-C339-4917-B07B-2113B9BC5EF3}"/>
              </a:ext>
            </a:extLst>
          </p:cNvPr>
          <p:cNvSpPr>
            <a:spLocks noGrp="1"/>
          </p:cNvSpPr>
          <p:nvPr/>
        </p:nvSpPr>
        <p:spPr>
          <a:xfrm>
            <a:off x="685800" y="923925"/>
            <a:ext cx="8763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  <a:ea typeface="Aptos"/>
                <a:cs typeface="Aptos"/>
              </a:defRPr>
            </a:pPr>
            <a:r>
              <a:rPr lang="pt-BR" sz="14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O projeto combina eletrônica embarcada e software para aproximar dados ambientais da vida urbana</a:t>
            </a:r>
            <a:r>
              <a:rPr sz="1400" b="0" dirty="0">
                <a:solidFill>
                  <a:srgbClr val="AFC2D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77DF477-452A-40F1-9CDA-F1131A60D021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defRPr sz="1350" b="1">
                <a:solidFill>
                  <a:srgbClr val="32D7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2D7E8"/>
                </a:solidFill>
                <a:latin typeface="Aptos"/>
                <a:ea typeface="Aptos"/>
                <a:cs typeface="Aptos"/>
              </a:rPr>
              <a:t>Resultado esperado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9221792-12E7-41BD-9E41-9C90F06EC05E}"/>
              </a:ext>
            </a:extLst>
          </p:cNvPr>
          <p:cNvSpPr>
            <a:spLocks noGrp="1"/>
          </p:cNvSpPr>
          <p:nvPr/>
        </p:nvSpPr>
        <p:spPr>
          <a:xfrm>
            <a:off x="790574" y="1933575"/>
            <a:ext cx="609600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>
              <a:defRPr sz="22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2250" b="1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Uma base prática para monitorar o ambiente, visualizar tendências e incentivar decisões mais informadas</a:t>
            </a:r>
            <a:r>
              <a:rPr sz="2250" b="1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13E980A-6D29-4082-B105-1815194108F7}"/>
              </a:ext>
            </a:extLst>
          </p:cNvPr>
          <p:cNvSpPr>
            <a:spLocks noGrp="1"/>
          </p:cNvSpPr>
          <p:nvPr/>
        </p:nvSpPr>
        <p:spPr>
          <a:xfrm>
            <a:off x="714375" y="4191000"/>
            <a:ext cx="361950" cy="361950"/>
          </a:xfrm>
          <a:prstGeom prst="ellipse">
            <a:avLst/>
          </a:prstGeom>
          <a:solidFill>
            <a:srgbClr val="32D7E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A1C5BEC-75EB-4369-9A56-34790C1845AA}"/>
              </a:ext>
            </a:extLst>
          </p:cNvPr>
          <p:cNvSpPr>
            <a:spLocks noGrp="1"/>
          </p:cNvSpPr>
          <p:nvPr/>
        </p:nvSpPr>
        <p:spPr>
          <a:xfrm>
            <a:off x="749299" y="4286250"/>
            <a:ext cx="248921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71B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53B2066-FB6E-4A91-B9BE-DD11BD5D8217}"/>
              </a:ext>
            </a:extLst>
          </p:cNvPr>
          <p:cNvSpPr>
            <a:spLocks noGrp="1"/>
          </p:cNvSpPr>
          <p:nvPr/>
        </p:nvSpPr>
        <p:spPr>
          <a:xfrm>
            <a:off x="1238250" y="421005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96" lnSpcReduction="20000"/>
          </a:bodyPr>
          <a:lstStyle/>
          <a:p>
            <a:pPr>
              <a:defRPr sz="13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Tecnologia acessível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0B76A52-4C5C-4A89-A2EC-6AEBEF15FC59}"/>
              </a:ext>
            </a:extLst>
          </p:cNvPr>
          <p:cNvSpPr>
            <a:spLocks noGrp="1"/>
          </p:cNvSpPr>
          <p:nvPr/>
        </p:nvSpPr>
        <p:spPr>
          <a:xfrm>
            <a:off x="3619500" y="4191000"/>
            <a:ext cx="361950" cy="361950"/>
          </a:xfrm>
          <a:prstGeom prst="ellipse">
            <a:avLst/>
          </a:prstGeom>
          <a:solidFill>
            <a:srgbClr val="65E2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25D3F15-FBDE-4A9E-888A-D7EFAF20CBF3}"/>
              </a:ext>
            </a:extLst>
          </p:cNvPr>
          <p:cNvSpPr>
            <a:spLocks noGrp="1"/>
          </p:cNvSpPr>
          <p:nvPr/>
        </p:nvSpPr>
        <p:spPr>
          <a:xfrm>
            <a:off x="3667760" y="4286250"/>
            <a:ext cx="31369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71B3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B0E26CB-022D-4E3A-B85B-64C6364A5D49}"/>
              </a:ext>
            </a:extLst>
          </p:cNvPr>
          <p:cNvSpPr>
            <a:spLocks noGrp="1"/>
          </p:cNvSpPr>
          <p:nvPr/>
        </p:nvSpPr>
        <p:spPr>
          <a:xfrm>
            <a:off x="4143375" y="421005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96" lnSpcReduction="20000"/>
          </a:bodyPr>
          <a:lstStyle/>
          <a:p>
            <a:pPr>
              <a:defRPr sz="13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Dados compreensíveis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233E8F4-A6FB-48DA-B447-4F82D1160881}"/>
              </a:ext>
            </a:extLst>
          </p:cNvPr>
          <p:cNvSpPr>
            <a:spLocks noGrp="1"/>
          </p:cNvSpPr>
          <p:nvPr/>
        </p:nvSpPr>
        <p:spPr>
          <a:xfrm>
            <a:off x="6524625" y="4191000"/>
            <a:ext cx="361950" cy="361950"/>
          </a:xfrm>
          <a:prstGeom prst="ellipse">
            <a:avLst/>
          </a:prstGeom>
          <a:solidFill>
            <a:srgbClr val="FFB65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60A899A-BF96-4665-BFA7-D49508511203}"/>
              </a:ext>
            </a:extLst>
          </p:cNvPr>
          <p:cNvSpPr>
            <a:spLocks noGrp="1"/>
          </p:cNvSpPr>
          <p:nvPr/>
        </p:nvSpPr>
        <p:spPr>
          <a:xfrm>
            <a:off x="6578599" y="4286250"/>
            <a:ext cx="307975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71B3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2847CA7-344E-4C6D-9DD5-BCC9BCD9517E}"/>
              </a:ext>
            </a:extLst>
          </p:cNvPr>
          <p:cNvSpPr>
            <a:spLocks noGrp="1"/>
          </p:cNvSpPr>
          <p:nvPr/>
        </p:nvSpPr>
        <p:spPr>
          <a:xfrm>
            <a:off x="7048500" y="421005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96" lnSpcReduction="20000"/>
          </a:bodyPr>
          <a:lstStyle/>
          <a:p>
            <a:pPr>
              <a:defRPr sz="13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1350" b="1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Participação</a:t>
            </a:r>
            <a:r>
              <a:rPr sz="1350" b="1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cidadã</a:t>
            </a:r>
            <a:r>
              <a:rPr lang="pt-BR" sz="1350" b="1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o</a:t>
            </a:r>
            <a:endParaRPr sz="1350" b="1" dirty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05E8E97E-0A0F-4B4E-B809-F713A76A8D1A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9982200" cy="0"/>
          </a:xfrm>
          <a:prstGeom prst="line">
            <a:avLst/>
          </a:prstGeom>
          <a:noFill/>
          <a:ln w="19050">
            <a:solidFill>
              <a:srgbClr val="2443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B0F8FBC-8E6D-4BD2-8926-EF9CC3CE5AB6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119" lnSpcReduction="20000"/>
          </a:bodyPr>
          <a:lstStyle/>
          <a:p>
            <a:pPr>
              <a:defRPr sz="21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lang="pt-BR" sz="2100" b="1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Grato pela atenção.</a:t>
            </a:r>
            <a:endParaRPr sz="2100" b="1" dirty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392968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262655-CEE7-4974-8568-E9B0EE44CE95}">
  <we:reference id="wa200010215" version="2.0.0.1" store="pt-BR" storeType="OMEX"/>
  <we:alternateReferences>
    <we:reference id="wa200010215" version="2.0.0.1" store="WA200010215" storeType="OMEX"/>
  </we:alternateReferences>
  <we:properties>
    <we:property name="bps.codex_control.document_id" value="&quot;3dafcfe8-2213-4ead-bc6d-ebb770ca1e8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Projeto_Integrador_Monitoramento_Ambiental_Final</Template>
  <TotalTime>34</TotalTime>
  <Words>957</Words>
  <Application>Microsoft Office PowerPoint</Application>
  <DocSecurity>0</DocSecurity>
  <PresentationFormat>Widescreen</PresentationFormat>
  <Paragraphs>132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Aptos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Ribeiro</dc:creator>
  <cp:lastModifiedBy>Igor Ribeiro</cp:lastModifiedBy>
  <cp:revision>7</cp:revision>
  <dcterms:created xsi:type="dcterms:W3CDTF">2026-09-25T02:25:44Z</dcterms:created>
  <dcterms:modified xsi:type="dcterms:W3CDTF">2026-10-06T20:46:09Z</dcterms:modified>
</cp:coreProperties>
</file>